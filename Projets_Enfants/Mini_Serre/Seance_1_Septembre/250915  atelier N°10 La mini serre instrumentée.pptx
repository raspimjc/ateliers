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3" r:id="rId2"/>
    <p:sldId id="256" r:id="rId3"/>
    <p:sldId id="262" r:id="rId4"/>
    <p:sldId id="292" r:id="rId5"/>
    <p:sldId id="282" r:id="rId6"/>
    <p:sldId id="291" r:id="rId7"/>
    <p:sldId id="293" r:id="rId8"/>
    <p:sldId id="295" r:id="rId9"/>
    <p:sldId id="294" r:id="rId10"/>
    <p:sldId id="285" r:id="rId11"/>
    <p:sldId id="289" r:id="rId12"/>
    <p:sldId id="290" r:id="rId13"/>
    <p:sldId id="286" r:id="rId14"/>
    <p:sldId id="274" r:id="rId15"/>
    <p:sldId id="269" r:id="rId16"/>
    <p:sldId id="268" r:id="rId17"/>
    <p:sldId id="277" r:id="rId18"/>
    <p:sldId id="284" r:id="rId19"/>
    <p:sldId id="267" r:id="rId20"/>
    <p:sldId id="273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3743" autoAdjust="0"/>
  </p:normalViewPr>
  <p:slideViewPr>
    <p:cSldViewPr snapToGrid="0">
      <p:cViewPr varScale="1">
        <p:scale>
          <a:sx n="103" d="100"/>
          <a:sy n="103" d="100"/>
        </p:scale>
        <p:origin x="8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C4D1B-67B6-4617-877A-28FB0448BB97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504B7-51B3-487D-A210-D192D4F5AF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779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504B7-51B3-487D-A210-D192D4F5AF2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52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FDF7B-FC51-374F-A046-F3D0753527C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F5054E-9937-062E-3113-D4EEDEA198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6F3720-8B61-3693-9BC8-26E877FD349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2C6BD5-4425-4531-B60B-32320A2A9DFA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748C7B-D668-A632-90C7-F8F61821326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DF81A6-5379-65F7-D3EC-1DB464BCA0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08B8E3-F622-4D26-A4D3-ADE0D17C5A9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704485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42419B-1D6E-042F-350F-0314B25C7A9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9DD74C-1FB3-4C82-FDF3-D0E673E66B0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DFB39-30A1-7DA9-519F-003BB20A0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BDFC441-362E-4F6C-94D7-0ED1107A43EA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ED3D49-4DC8-E11B-C6DA-44D714EC433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7EE7E1-E0A4-2048-2EF5-7CB3317F300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94736F0-A7F6-4D51-8B9A-7F73CE82FB1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05381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214E27-1005-71EF-30E5-A226145767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4071DF-5753-7985-39DC-F4A9A23D1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3342D5-21F6-994E-A29C-E545E1CB33F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162040B-5821-4CE2-924D-43A93286203E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39F860-1AB6-91FF-2A3F-AC78D7A4F0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008D9F-A8B1-AB6F-08C5-D50EA73BB05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9394A80-2025-4316-9C7A-3F1BA192EB8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33007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37D5EB-3855-5585-81B6-954A09ECD8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A81769-4F95-36A8-DA7A-445CE2BB67B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C44BB4-F8D9-6497-C91E-FCFC2444069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98A47F-52DE-DA2E-7065-1B68BEF1AD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69360B-ADD2-405E-9B66-D6D3FFEC6FCC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9AFDEF-BC59-1695-E97E-AEE078FD354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957D18-531D-5F4B-F526-6B1E2FEB4F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7640E5-5282-4D7F-87E8-6E47703620B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03897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9745E8-4635-0463-AF84-0825B525C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165139-9C3D-3D64-291E-D92212728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27C90E-E2E5-49F6-37A3-F96A563AA6C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61DAF0-1ED4-5B62-54B8-172CEB3EFF6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27D697-B397-5784-5EE5-5ABCB9BD93A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734C4D-E0EE-67F7-C48A-FD8DF568ACD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3B17CE-CB04-4037-A338-A4BE5B564EC0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C7DCC3F-90C2-2687-F58B-2FABBCE9A0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598D8D-C9B1-1DBA-AC16-291F3C9D33C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C15535-3D1B-49B4-BCFC-98B10E29323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193032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FF046E-7D67-C733-73D9-3ED07227F0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250556-E65C-C5C2-87AE-D9FFE86AF54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D54BDA-E580-4F21-93AD-0200AACEE55D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3C9A60-449F-30E3-0393-4AF8E373E45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72BF95-A9F3-1EFF-DC36-583C59ED395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7D4371-B151-49BD-BF8A-F49E9475455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93875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B5D513-B66C-DC13-7C4D-2B9C6D4B3F6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0D5DE5-A448-407F-8247-DC12733916DD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60D9B5-45E1-DD59-0899-2CE6C4CABF1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9EAE9F-73D0-0B5A-F763-2413162BAC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95177D-ED57-4E70-BAEE-46FE64F2891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760915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2225DA-08BD-2687-17F3-454E20A5D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5334D0-9656-2511-057B-D748CFBBC0F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385A6D-586C-133B-7F30-C9B0705090C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9EB997-0C66-714B-1BAB-CB1C428D0B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B9812B-0E3F-49FE-BBA9-9108E1E18EC4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14300E-E669-C29D-D06F-EC740BBC0AF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D0C369-C068-18D0-7FFB-E752A7145BC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9DAEC7-4923-4DDF-9DC0-DED51D4D358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2400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00A29-88A9-5846-14BE-4CA4A3626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27F5A3-94F0-0424-4140-6B0753B6ED7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5E491F-4119-4607-415B-B262168108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250D1D-118C-C302-4D2D-F19497F005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D04F48-B0A4-46DC-B2E3-732EABB5098B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043483-E728-759B-3E37-05214AA116C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CF76E7-506D-09A4-FD45-65F6AE58A4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81ABD3-C99F-4726-AB49-3CABE848D70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30595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B104D-1D3F-58E3-337A-DA4C229C70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8D66D4-5CA3-F306-D09F-67C57940CE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89ECE2-EA31-32D1-06AC-4C0687913C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EE20CA-66C1-48CC-8E58-FA87E480A6C8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6ECED5-D491-3207-05D6-49E6273B6D1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DA5E79-75C5-DF4B-3C9A-829DF8B131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B1EC00-19FB-4B6A-B9B7-18361B8F2F57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71916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501BF64-0319-EE63-2968-3A85CEF1CC33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D7032D-2B1E-230E-7D83-8DAAAB1D2C9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8B6A96-CF20-3C28-84F1-FDA7A1DB58A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D35BA9-C777-46B6-AD0A-A185BB75FAD5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0FF97C-409C-9976-BEBA-0CC600A15F9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EB5F5A-1F8C-0385-97BC-F8642F602C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6FD073-913A-47F5-90E6-D3D6BCFBC061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56524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4737034-47B8-605E-06C6-CC0F4D0BE5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4DF2D5-66F3-20BD-9141-0E9DCA64B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6AEC2D-63B2-ACB7-A7A2-90B81435307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0BC97EDC-89C4-4EC7-99B1-7F6615097C81}" type="datetime1">
              <a:rPr lang="fr-FR"/>
              <a:pPr lvl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1F8F4A-15ED-2B16-22FE-F556BDE96FE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2FEE32-8EAD-7BA1-9EE9-BF459881A7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4C66FF18-1E71-49A6-808E-62424E33F4C7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CA0092-9B13-9EE4-FC6B-8A4D127DF8C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-1005693"/>
            <a:ext cx="9144000" cy="2387598"/>
          </a:xfrm>
        </p:spPr>
        <p:txBody>
          <a:bodyPr/>
          <a:lstStyle/>
          <a:p>
            <a:pPr lvl="0"/>
            <a:r>
              <a:rPr lang="fr-FR">
                <a:latin typeface="Tahoma" pitchFamily="34"/>
                <a:ea typeface="Tahoma" pitchFamily="34"/>
                <a:cs typeface="Tahoma" pitchFamily="34"/>
              </a:rPr>
              <a:t>Atelier Raspi</a:t>
            </a:r>
          </a:p>
        </p:txBody>
      </p:sp>
      <p:pic>
        <p:nvPicPr>
          <p:cNvPr id="3" name="Image 5">
            <a:extLst>
              <a:ext uri="{FF2B5EF4-FFF2-40B4-BE49-F238E27FC236}">
                <a16:creationId xmlns:a16="http://schemas.microsoft.com/office/drawing/2014/main" id="{597C92E6-6492-B8A3-0811-EFE1DBDD0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94" y="3185806"/>
            <a:ext cx="721324" cy="8603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3">
            <a:extLst>
              <a:ext uri="{FF2B5EF4-FFF2-40B4-BE49-F238E27FC236}">
                <a16:creationId xmlns:a16="http://schemas.microsoft.com/office/drawing/2014/main" id="{CEF9029F-5A11-BDE3-1355-625438F6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03" y="676729"/>
            <a:ext cx="1300633" cy="130063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10">
            <a:extLst>
              <a:ext uri="{FF2B5EF4-FFF2-40B4-BE49-F238E27FC236}">
                <a16:creationId xmlns:a16="http://schemas.microsoft.com/office/drawing/2014/main" id="{B6F9BB95-4EC8-7DE3-CC87-C6331AD7C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004" y="2938191"/>
            <a:ext cx="3289334" cy="320563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 12">
            <a:extLst>
              <a:ext uri="{FF2B5EF4-FFF2-40B4-BE49-F238E27FC236}">
                <a16:creationId xmlns:a16="http://schemas.microsoft.com/office/drawing/2014/main" id="{D8A553B5-E736-F1E2-3442-86607513A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54" y="4257062"/>
            <a:ext cx="970516" cy="9882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ZoneTexte 13">
            <a:extLst>
              <a:ext uri="{FF2B5EF4-FFF2-40B4-BE49-F238E27FC236}">
                <a16:creationId xmlns:a16="http://schemas.microsoft.com/office/drawing/2014/main" id="{1E79916F-D36B-2C3D-FA02-A46DC92D2366}"/>
              </a:ext>
            </a:extLst>
          </p:cNvPr>
          <p:cNvSpPr txBox="1"/>
          <p:nvPr/>
        </p:nvSpPr>
        <p:spPr>
          <a:xfrm>
            <a:off x="260338" y="6385959"/>
            <a:ext cx="1193166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L’atelier a pour valeurs, le partage, l’aide, la formation, le faire et construire ensemble à partir de l’expérience des participants</a:t>
            </a:r>
          </a:p>
        </p:txBody>
      </p:sp>
      <p:sp>
        <p:nvSpPr>
          <p:cNvPr id="8" name="ZoneTexte 14">
            <a:extLst>
              <a:ext uri="{FF2B5EF4-FFF2-40B4-BE49-F238E27FC236}">
                <a16:creationId xmlns:a16="http://schemas.microsoft.com/office/drawing/2014/main" id="{B3A132A5-01FC-7B64-38E2-2E917786D3C0}"/>
              </a:ext>
            </a:extLst>
          </p:cNvPr>
          <p:cNvSpPr txBox="1"/>
          <p:nvPr/>
        </p:nvSpPr>
        <p:spPr>
          <a:xfrm>
            <a:off x="1900799" y="3706401"/>
            <a:ext cx="237519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Logo du Raspberry Pico</a:t>
            </a:r>
          </a:p>
        </p:txBody>
      </p:sp>
      <p:sp>
        <p:nvSpPr>
          <p:cNvPr id="9" name="ZoneTexte 15">
            <a:extLst>
              <a:ext uri="{FF2B5EF4-FFF2-40B4-BE49-F238E27FC236}">
                <a16:creationId xmlns:a16="http://schemas.microsoft.com/office/drawing/2014/main" id="{6A714171-0A04-7BB2-98E9-8C46D9447EA8}"/>
              </a:ext>
            </a:extLst>
          </p:cNvPr>
          <p:cNvSpPr txBox="1"/>
          <p:nvPr/>
        </p:nvSpPr>
        <p:spPr>
          <a:xfrm>
            <a:off x="1900799" y="4770854"/>
            <a:ext cx="219681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Logo du MicroPython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44A159A5-7414-2044-86FD-F66D6D007295}"/>
              </a:ext>
            </a:extLst>
          </p:cNvPr>
          <p:cNvSpPr txBox="1"/>
          <p:nvPr/>
        </p:nvSpPr>
        <p:spPr>
          <a:xfrm>
            <a:off x="967170" y="1370504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Atelier N°10 La mini serre instrumentée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07B1F8-9AD2-931B-A63F-7EB1B036CA15}"/>
              </a:ext>
            </a:extLst>
          </p:cNvPr>
          <p:cNvSpPr txBox="1"/>
          <p:nvPr/>
        </p:nvSpPr>
        <p:spPr>
          <a:xfrm>
            <a:off x="1325603" y="1298562"/>
            <a:ext cx="10515600" cy="51662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i="0" u="none" strike="noStrike" kern="0" cap="none" spc="0" baseline="0" dirty="0"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1</a:t>
            </a:r>
            <a:r>
              <a:rPr lang="fr-FR" b="1" i="0" u="none" strike="noStrike" kern="1200" cap="none" spc="0" baseline="0" dirty="0"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1600" b="1" dirty="0">
                <a:latin typeface="Calibri Light"/>
              </a:rPr>
              <a:t>Le fonctionnement des plantes </a:t>
            </a:r>
            <a:endParaRPr lang="fr-FR" b="1" i="0" u="none" strike="noStrike" kern="0" cap="none" spc="0" baseline="0" dirty="0"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i="0" u="none" strike="noStrike" kern="1200" cap="none" spc="0" baseline="0" dirty="0"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2 </a:t>
            </a:r>
            <a:r>
              <a:rPr lang="fr-FR" sz="1600" b="1" dirty="0">
                <a:latin typeface="Calibri Light"/>
              </a:rPr>
              <a:t>Le fonctionnement des plantes </a:t>
            </a:r>
            <a:endParaRPr lang="fr-F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3 </a:t>
            </a:r>
            <a:r>
              <a:rPr lang="fr-FR" sz="1600" b="1" dirty="0">
                <a:latin typeface="Calibri Light"/>
              </a:rPr>
              <a:t>Le fonctionnement des plantes (pour ceux qui s’intéressent)</a:t>
            </a:r>
            <a:endParaRPr lang="fr-FR" b="1" kern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fr-FR" b="1" i="0" u="none" strike="noStrike" kern="0" cap="none" spc="0" baseline="0" dirty="0"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tape 4</a:t>
            </a:r>
            <a:r>
              <a:rPr lang="fr-F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1600" b="1" dirty="0">
                <a:latin typeface="Calibri Light"/>
              </a:rPr>
              <a:t>Le fonctionnement des plantes (pour ceux qui s’intéressent) </a:t>
            </a:r>
            <a:endParaRPr lang="fr-FR" b="1" i="0" u="none" strike="noStrike" kern="0" cap="none" spc="0" baseline="0" dirty="0"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5 Le cahier des charges de la mini serre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6 Les composants de la mini serre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7 La nomenclature et les brochages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8 Le schéma électrique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9 Le regroupement des fonctions élémentaires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10 Préparation du positionnement des composants et des fils sur PCB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11 Une proposition de routage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kern="0" dirty="0"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kern="0" dirty="0"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kern="0" dirty="0"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kern="0" dirty="0"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kern="0" dirty="0">
              <a:solidFill>
                <a:srgbClr val="7030A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b="0" i="0" u="none" strike="noStrike" kern="0" cap="none" spc="0" baseline="0" dirty="0">
              <a:solidFill>
                <a:srgbClr val="7030A0"/>
              </a:solidFill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GI1	</a:t>
            </a: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Glossaire informatique1</a:t>
            </a:r>
            <a:endParaRPr lang="fr-FR" b="0" i="0" u="none" strike="noStrike" kern="0" cap="none" spc="0" baseline="0" dirty="0">
              <a:solidFill>
                <a:srgbClr val="7030A0"/>
              </a:solidFill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GI2  </a:t>
            </a: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Glossaire informatique2</a:t>
            </a: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GI3  </a:t>
            </a: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Glossaire informatique3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GI4  </a:t>
            </a: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Glossaire informatique4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GI5  </a:t>
            </a:r>
            <a:r>
              <a:rPr lang="fr-FR" kern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Glossaire informatique5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GI6  </a:t>
            </a:r>
            <a:r>
              <a:rPr lang="fr-FR" kern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Glossaire informatique6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GE1  Glossaire électronique</a:t>
            </a: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70F59C3-A379-750D-CA3A-33F44EE56A53}"/>
              </a:ext>
            </a:extLst>
          </p:cNvPr>
          <p:cNvSpPr txBox="1"/>
          <p:nvPr/>
        </p:nvSpPr>
        <p:spPr>
          <a:xfrm>
            <a:off x="896395" y="-148295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Atelier N°10 La </a:t>
            </a:r>
            <a:r>
              <a:rPr lang="fr-FR" sz="44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 Light"/>
              </a:rPr>
              <a:t>mini-serre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instrumentée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8081D8B-65BA-90C8-7A6E-D25B5311269B}"/>
              </a:ext>
            </a:extLst>
          </p:cNvPr>
          <p:cNvSpPr txBox="1"/>
          <p:nvPr/>
        </p:nvSpPr>
        <p:spPr>
          <a:xfrm>
            <a:off x="392539" y="1027188"/>
            <a:ext cx="71186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Les plantes vivent fixées au sol,  elles se sont adaptées à leur environnement pour se développer, ce n’est pas comme un animal qui peut se déplacer, et se nourrir. </a:t>
            </a:r>
          </a:p>
          <a:p>
            <a:r>
              <a:rPr lang="fr-FR" dirty="0"/>
              <a:t>Une plante est organisée en système racinaire et système aérien, interconnectés par les tissus conducteurs.</a:t>
            </a:r>
          </a:p>
          <a:p>
            <a:r>
              <a:rPr lang="fr-FR" dirty="0"/>
              <a:t>La photosynthèse fournit matière organique et énergie, tandis que l’eau</a:t>
            </a:r>
          </a:p>
          <a:p>
            <a:r>
              <a:rPr lang="fr-FR" dirty="0"/>
              <a:t>et les nutriments proviennent du sol via les racines.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E54D6AD-3794-A610-DFF1-19F582528B86}"/>
              </a:ext>
            </a:extLst>
          </p:cNvPr>
          <p:cNvSpPr txBox="1"/>
          <p:nvPr/>
        </p:nvSpPr>
        <p:spPr>
          <a:xfrm>
            <a:off x="838200" y="443597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A10E</a:t>
            </a:r>
            <a:r>
              <a:rPr lang="fr-FR" sz="4400" dirty="0">
                <a:solidFill>
                  <a:srgbClr val="000000"/>
                </a:solidFill>
                <a:latin typeface="Calibri Light"/>
              </a:rPr>
              <a:t>1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</a:t>
            </a:r>
            <a:r>
              <a:rPr lang="fr-FR" sz="2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Le fonctionnement des plantes</a:t>
            </a:r>
            <a:r>
              <a:rPr lang="fr-FR" sz="2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 </a:t>
            </a: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D932A29-1080-B70D-FBB2-09E96C470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321" y="1073792"/>
            <a:ext cx="4268301" cy="442271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4836653-63E6-3A01-4B4E-4D76E1094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78" y="3285147"/>
            <a:ext cx="4399604" cy="32238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462C956-FAB7-031C-387D-E2BBC8FA0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89" y="2397966"/>
            <a:ext cx="4289702" cy="307346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089738A-5323-FC82-1A3A-93DF46985FFB}"/>
              </a:ext>
            </a:extLst>
          </p:cNvPr>
          <p:cNvSpPr txBox="1"/>
          <p:nvPr/>
        </p:nvSpPr>
        <p:spPr>
          <a:xfrm>
            <a:off x="4407891" y="25360"/>
            <a:ext cx="766592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Quand une plante respire-t-elle ?  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Les plantes respirent en permanence,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jour et nuit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. Contrairement à la photosynthèse, qui ne se produit qu'en présence de lumière, la respiration cellulaire est un processus continu essentiel à leur survie.</a:t>
            </a:r>
          </a:p>
          <a:p>
            <a:pPr algn="l">
              <a:spcAft>
                <a:spcPts val="900"/>
              </a:spcAft>
              <a:buNone/>
            </a:pP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Processus de respiration</a:t>
            </a:r>
          </a:p>
          <a:p>
            <a:pPr algn="l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Absorption d'oxygène (O2)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et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rejet de dioxyde de carbone (CO2)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et de vapeur d'eau (H2O). 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Se déroule dans les mitochondries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de toutes les cellules végétales. 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Inverse de la photosynthèse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: la photosynthèse absorbe le CO2 et libère de l'O2, tandis que la respiration fait l'inverse.</a:t>
            </a:r>
          </a:p>
          <a:p>
            <a:pPr algn="l">
              <a:spcAft>
                <a:spcPts val="900"/>
              </a:spcAft>
              <a:buNone/>
            </a:pP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Différences jour/nuit</a:t>
            </a:r>
          </a:p>
          <a:p>
            <a:pPr algn="l">
              <a:spcAft>
                <a:spcPts val="900"/>
              </a:spcAft>
              <a:buNone/>
            </a:pP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Jour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: La photosynthèse masque partiellement la respiration en absorbant du CO2 et en libérant de l’O2. 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Nuit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: La photosynthèse s'arrête, la respiration devient plus évidente avec une absorption d'O2 et un rejet de CO2.</a:t>
            </a:r>
          </a:p>
          <a:p>
            <a:pPr algn="l">
              <a:spcAft>
                <a:spcPts val="900"/>
              </a:spcAft>
              <a:buNone/>
            </a:pP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Facteurs influençant la respiration    Température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: Une température élevée augmente le taux de respiration.  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Disponibilité en oxygène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: Influence la capacité respiratoire des racines et des organes internes.  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État de l'eau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: Un sol trop humide peut réduire la respiration racinaire.</a:t>
            </a:r>
          </a:p>
          <a:p>
            <a:pPr algn="l">
              <a:spcAft>
                <a:spcPts val="900"/>
              </a:spcAft>
              <a:buNone/>
            </a:pP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Structures respiratoires</a:t>
            </a:r>
          </a:p>
          <a:p>
            <a:pPr algn="l">
              <a:spcAft>
                <a:spcPts val="1800"/>
              </a:spcAft>
            </a:pP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Stomates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: Petites ouvertures sur les feuilles pour les échanges gazeux.  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Lenticelles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: Structures sur les tiges et racines permettant la respiration même lorsque les stomates sont fermés.  En résumé,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les plantes respirent en continu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, mais la respiration est plus visible la nuit en l'absence de photosynthèse.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3B5161C-4188-F3F9-1735-F602CC6E807E}"/>
              </a:ext>
            </a:extLst>
          </p:cNvPr>
          <p:cNvSpPr txBox="1"/>
          <p:nvPr/>
        </p:nvSpPr>
        <p:spPr>
          <a:xfrm>
            <a:off x="213049" y="381202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A10E2</a:t>
            </a:r>
            <a:endParaRPr lang="fr-FR" sz="4400" dirty="0">
              <a:solidFill>
                <a:srgbClr val="000000"/>
              </a:solidFill>
              <a:latin typeface="Calibri Light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Le fonctionnement des plantes</a:t>
            </a:r>
            <a:r>
              <a:rPr lang="fr-FR" sz="2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 </a:t>
            </a: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0920481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AEB75-D80B-B3DC-6B81-8F538D24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6DBFD7AA-7021-7AB8-7B72-F788ACEF4192}"/>
              </a:ext>
            </a:extLst>
          </p:cNvPr>
          <p:cNvSpPr txBox="1"/>
          <p:nvPr/>
        </p:nvSpPr>
        <p:spPr>
          <a:xfrm>
            <a:off x="838200" y="51711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A10E3 </a:t>
            </a:r>
            <a:r>
              <a:rPr lang="fr-FR" sz="2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Le fonctionnement des plantes (pour ceux qui s’intéressent)</a:t>
            </a:r>
            <a:r>
              <a:rPr lang="fr-FR" sz="2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 </a:t>
            </a: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15D5683-F393-95B3-8463-8FB109CA3631}"/>
              </a:ext>
            </a:extLst>
          </p:cNvPr>
          <p:cNvSpPr txBox="1"/>
          <p:nvPr/>
        </p:nvSpPr>
        <p:spPr>
          <a:xfrm>
            <a:off x="485192" y="896979"/>
            <a:ext cx="10369377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Fonctionnement général d’une plante</a:t>
            </a:r>
          </a:p>
          <a:p>
            <a:r>
              <a:rPr lang="fr-FR" dirty="0"/>
              <a:t>Elles utilisent des mécanismes internes pour assurer leur nutrition, leur croissance et leur reproduction.</a:t>
            </a:r>
          </a:p>
          <a:p>
            <a:r>
              <a:rPr lang="fr-FR" dirty="0"/>
              <a:t>Voici les principaux éléments qui expliquent leur fonctionnement.</a:t>
            </a:r>
          </a:p>
          <a:p>
            <a:r>
              <a:rPr lang="fr-FR" b="1" dirty="0"/>
              <a:t>Organisation générale</a:t>
            </a:r>
            <a:endParaRPr lang="fr-FR" dirty="0"/>
          </a:p>
          <a:p>
            <a:pPr lvl="1"/>
            <a:r>
              <a:rPr lang="fr-FR" dirty="0"/>
              <a:t>Appareil végétatif aérien: tige, feuilles, bourgeons.</a:t>
            </a:r>
          </a:p>
          <a:p>
            <a:pPr lvl="1"/>
            <a:r>
              <a:rPr lang="fr-FR" dirty="0"/>
              <a:t>Appareil racinaire: racines et racine principale souvent avec des poils absorbants.</a:t>
            </a:r>
          </a:p>
          <a:p>
            <a:pPr lvl="1"/>
            <a:r>
              <a:rPr lang="fr-FR" dirty="0"/>
              <a:t>Organes reproducteurs: fleurs et fruits contenant les graines (chez les angiospermes).</a:t>
            </a:r>
          </a:p>
          <a:p>
            <a:pPr lvl="1"/>
            <a:r>
              <a:rPr lang="fr-FR" dirty="0"/>
              <a:t>Tissus conducteurs: xylème (transport de la sève brute, eau et sels minéraux)</a:t>
            </a:r>
          </a:p>
          <a:p>
            <a:pPr lvl="1"/>
            <a:r>
              <a:rPr lang="fr-FR" dirty="0"/>
              <a:t> et phloème (transport de la sève élaborée, sucres).</a:t>
            </a:r>
          </a:p>
          <a:p>
            <a:r>
              <a:rPr lang="fr-FR" b="1" dirty="0"/>
              <a:t>Autotrophie et photosynthèse</a:t>
            </a:r>
            <a:endParaRPr lang="fr-FR" dirty="0"/>
          </a:p>
          <a:p>
            <a:pPr lvl="1"/>
            <a:r>
              <a:rPr lang="fr-FR" dirty="0"/>
              <a:t>Les plantes utilisent la lumière, le CO2 et l’eau pour fabriquer des glucides </a:t>
            </a:r>
          </a:p>
          <a:p>
            <a:pPr lvl="1"/>
            <a:r>
              <a:rPr lang="fr-FR" dirty="0"/>
              <a:t>(principalement du glucose) via la photosynthèse.</a:t>
            </a:r>
          </a:p>
          <a:p>
            <a:pPr lvl="1"/>
            <a:r>
              <a:rPr lang="fr-FR" dirty="0"/>
              <a:t>Pendant la photosynthèse, elles rejettent de l’oxygène dans l’atmosphère.</a:t>
            </a:r>
          </a:p>
          <a:p>
            <a:pPr lvl="1"/>
            <a:r>
              <a:rPr lang="fr-FR" dirty="0"/>
              <a:t>Les chloroplastes des cellules chlorophylliennes permettent cette conversion énergétique.</a:t>
            </a:r>
          </a:p>
          <a:p>
            <a:r>
              <a:rPr lang="fr-FR" b="1" dirty="0"/>
              <a:t>Absorption et nutrition</a:t>
            </a:r>
            <a:endParaRPr lang="fr-FR" dirty="0"/>
          </a:p>
          <a:p>
            <a:pPr lvl="1"/>
            <a:r>
              <a:rPr lang="fr-FR" dirty="0"/>
              <a:t>Les racines absorbent l’eau et les minéraux du sol. La zone pilifère (poils absorbants) augmente</a:t>
            </a:r>
          </a:p>
          <a:p>
            <a:pPr lvl="1"/>
            <a:r>
              <a:rPr lang="fr-FR" dirty="0"/>
              <a:t>fortement la surface d’échange. Les mycorhizes (association avec des champignons) augmentent encore</a:t>
            </a:r>
          </a:p>
          <a:p>
            <a:pPr lvl="1"/>
            <a:r>
              <a:rPr lang="fr-FR" dirty="0"/>
              <a:t>l’absorption d’eau et de sels minéraux en élargissant la surface de contact racine-sol.</a:t>
            </a:r>
          </a:p>
          <a:p>
            <a:pPr lvl="1"/>
            <a:r>
              <a:rPr lang="fr-FR" dirty="0"/>
              <a:t>Le système racinaire assure aussi l’ancrage et la stabilité face au vent.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219669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B79752F-9A4C-EFEC-F7CD-8855364CB0B4}"/>
              </a:ext>
            </a:extLst>
          </p:cNvPr>
          <p:cNvSpPr txBox="1"/>
          <p:nvPr/>
        </p:nvSpPr>
        <p:spPr>
          <a:xfrm>
            <a:off x="269033" y="681906"/>
            <a:ext cx="1144866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Transmission et distribution des ressources</a:t>
            </a:r>
            <a:endParaRPr lang="fr-FR" dirty="0"/>
          </a:p>
          <a:p>
            <a:pPr lvl="1"/>
            <a:r>
              <a:rPr lang="fr-FR" dirty="0"/>
              <a:t>Le xylème transporte la sève brute (eau et sels minéraux) des racines vers les parties aériennes.</a:t>
            </a:r>
          </a:p>
          <a:p>
            <a:pPr lvl="1"/>
            <a:r>
              <a:rPr lang="fr-FR" dirty="0"/>
              <a:t>Le phloème transporte la sève élaborée (principalement des sucres comme le glucose et le saccharose) des feuilles vers le reste de la plante.</a:t>
            </a:r>
          </a:p>
          <a:p>
            <a:pPr lvl="1"/>
            <a:r>
              <a:rPr lang="fr-FR" dirty="0"/>
              <a:t>La circulation des deux types de sève se fait dans des faisceaux </a:t>
            </a:r>
            <a:r>
              <a:rPr lang="fr-FR" dirty="0" err="1"/>
              <a:t>cribro</a:t>
            </a:r>
            <a:r>
              <a:rPr lang="fr-FR" dirty="0"/>
              <a:t>-vasculaires répartis dans la plante.</a:t>
            </a:r>
          </a:p>
          <a:p>
            <a:r>
              <a:rPr lang="fr-FR" b="1" dirty="0"/>
              <a:t>Croissance et développement</a:t>
            </a:r>
            <a:endParaRPr lang="fr-FR" dirty="0"/>
          </a:p>
          <a:p>
            <a:pPr lvl="1"/>
            <a:r>
              <a:rPr lang="fr-FR" dirty="0"/>
              <a:t>La croissance se fait grâce à des méristèmes (zones de division cellulaire) situés à l’apex des racines et des tiges, et à proximité des bourgeons.</a:t>
            </a:r>
          </a:p>
          <a:p>
            <a:pPr lvl="1"/>
            <a:r>
              <a:rPr lang="fr-FR" dirty="0"/>
              <a:t>L’élongation et la différenciation cellulaire permettent la formation des organes: racines, tiges, feuilles, fleurs.</a:t>
            </a:r>
          </a:p>
          <a:p>
            <a:pPr lvl="1"/>
            <a:r>
              <a:rPr lang="fr-FR" dirty="0"/>
              <a:t>Les organes aériens se développent par répétition de phytomères (unités tige-feuille-bourgeon).</a:t>
            </a:r>
          </a:p>
          <a:p>
            <a:pPr lvl="1"/>
            <a:r>
              <a:rPr lang="fr-FR" dirty="0"/>
              <a:t>Le développement est régulé par des phytohormones (par exemple l’auxine) et modulé par des facteurs environnementaux (lumière, gravité, humidité).</a:t>
            </a:r>
          </a:p>
          <a:p>
            <a:r>
              <a:rPr lang="fr-FR" b="1" dirty="0"/>
              <a:t>Réponses aux conditions environnementales</a:t>
            </a:r>
            <a:endParaRPr lang="fr-FR" dirty="0"/>
          </a:p>
          <a:p>
            <a:pPr lvl="1"/>
            <a:r>
              <a:rPr lang="fr-FR" dirty="0"/>
              <a:t>Phototropisme: croissance orientée vers la lumière, pilotée par des gradients d’auxine.</a:t>
            </a:r>
          </a:p>
          <a:p>
            <a:pPr lvl="1"/>
            <a:r>
              <a:rPr lang="fr-FR" dirty="0"/>
              <a:t>Gravitropisme: orientation qui suit la gravité, influençant croissance des tiges et racines.</a:t>
            </a:r>
          </a:p>
          <a:p>
            <a:pPr lvl="1"/>
            <a:r>
              <a:rPr lang="fr-FR" dirty="0"/>
              <a:t>Les plantes adaptent aussi leur physiologie (par exemple des feuilles plus petites ou </a:t>
            </a:r>
            <a:r>
              <a:rPr lang="fr-FR" dirty="0" err="1"/>
              <a:t>podées</a:t>
            </a:r>
            <a:r>
              <a:rPr lang="fr-FR" dirty="0"/>
              <a:t> dans les environnements très secs) pour limiter les pertes d’eau.</a:t>
            </a:r>
          </a:p>
          <a:p>
            <a:r>
              <a:rPr lang="fr-FR" b="1" dirty="0"/>
              <a:t>Reproduction et dissémination</a:t>
            </a:r>
            <a:endParaRPr lang="fr-FR" dirty="0"/>
          </a:p>
          <a:p>
            <a:pPr lvl="1"/>
            <a:r>
              <a:rPr lang="fr-FR" dirty="0"/>
              <a:t>La reproduction peut être sexuée (graines dans des fruits issus de fleurs) et parfois asexuée.</a:t>
            </a:r>
          </a:p>
          <a:p>
            <a:pPr lvl="1"/>
            <a:r>
              <a:rPr lang="fr-FR" dirty="0"/>
              <a:t>Les angiospermes produisent des graines dans un ovaire qui devient fruit; les graines peuvent être protégées et dispersées par divers moyens (animaux, vent, eau).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6A8FECD-4950-128C-E7F7-26B1962A4A2C}"/>
              </a:ext>
            </a:extLst>
          </p:cNvPr>
          <p:cNvSpPr txBox="1"/>
          <p:nvPr/>
        </p:nvSpPr>
        <p:spPr>
          <a:xfrm>
            <a:off x="838200" y="51711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lnSpc>
                <a:spcPct val="9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A10E4 </a:t>
            </a:r>
            <a:r>
              <a:rPr lang="fr-FR" sz="2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Le fonctionnement des plantes</a:t>
            </a:r>
            <a:r>
              <a:rPr lang="fr-FR" sz="2400" dirty="0">
                <a:solidFill>
                  <a:srgbClr val="000000"/>
                </a:solidFill>
                <a:latin typeface="Calibri Light"/>
              </a:rPr>
              <a:t> (pour ceux qui s’intéressent)</a:t>
            </a:r>
            <a:r>
              <a:rPr lang="fr-FR" sz="2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 </a:t>
            </a: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22119873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F984D6-CE44-B095-B9C4-248BE7744516}"/>
              </a:ext>
            </a:extLst>
          </p:cNvPr>
          <p:cNvSpPr txBox="1"/>
          <p:nvPr/>
        </p:nvSpPr>
        <p:spPr>
          <a:xfrm>
            <a:off x="838200" y="51711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A10E5 </a:t>
            </a:r>
            <a:r>
              <a:rPr lang="fr-FR" sz="2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Le cahier des charges de la mini serre</a:t>
            </a:r>
            <a:r>
              <a:rPr lang="fr-FR" sz="2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 </a:t>
            </a: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315DBD-6573-C1A4-C813-9FD4A666E7E0}"/>
              </a:ext>
            </a:extLst>
          </p:cNvPr>
          <p:cNvSpPr txBox="1"/>
          <p:nvPr/>
        </p:nvSpPr>
        <p:spPr>
          <a:xfrm>
            <a:off x="838200" y="839755"/>
            <a:ext cx="434952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Qu’est ce que l’on doit gérer: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Pour l’eau -&gt; dans le pot de fleur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accent1">
                  <a:lumMod val="75000"/>
                </a:schemeClr>
              </a:solidFill>
            </a:endParaRPr>
          </a:p>
          <a:p>
            <a:pPr lvl="2"/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      -&gt; dans l’air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C00000"/>
                </a:solidFill>
              </a:rPr>
              <a:t>Pour la température de l’air de la serre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Pour la lumière-&gt;  quelle lumière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lvl="4"/>
            <a:r>
              <a:rPr lang="fr-F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-&gt; pour le cycle jour/nuit</a:t>
            </a: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DB3D35D-A524-B6D1-398F-FBBF0DF867A2}"/>
              </a:ext>
            </a:extLst>
          </p:cNvPr>
          <p:cNvSpPr txBox="1"/>
          <p:nvPr/>
        </p:nvSpPr>
        <p:spPr>
          <a:xfrm>
            <a:off x="6594869" y="839755"/>
            <a:ext cx="22978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B0F0"/>
                </a:solidFill>
              </a:rPr>
              <a:t>Capteur d’humidité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B0F0"/>
                </a:solidFill>
              </a:rPr>
              <a:t>Réservoir d’eau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B0F0"/>
                </a:solidFill>
              </a:rPr>
              <a:t>Pompe a eau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B0F0"/>
                </a:solidFill>
              </a:rPr>
              <a:t>Niveau d’eau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1251CB-F29F-7ECD-0A90-977C17452EDD}"/>
              </a:ext>
            </a:extLst>
          </p:cNvPr>
          <p:cNvSpPr txBox="1"/>
          <p:nvPr/>
        </p:nvSpPr>
        <p:spPr>
          <a:xfrm>
            <a:off x="6594869" y="2067992"/>
            <a:ext cx="2971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-   </a:t>
            </a:r>
            <a:r>
              <a:rPr lang="fr-FR" dirty="0"/>
              <a:t> </a:t>
            </a:r>
            <a:r>
              <a:rPr lang="fr-FR" dirty="0">
                <a:solidFill>
                  <a:srgbClr val="00B0F0"/>
                </a:solidFill>
              </a:rPr>
              <a:t>Capteur d’humidité de l’air</a:t>
            </a:r>
          </a:p>
          <a:p>
            <a:r>
              <a:rPr lang="fr-FR" dirty="0">
                <a:solidFill>
                  <a:srgbClr val="00B0F0"/>
                </a:solidFill>
              </a:rPr>
              <a:t>-    Brumisateur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1711CC-1FEC-470D-90FA-7055D84B07EA}"/>
              </a:ext>
            </a:extLst>
          </p:cNvPr>
          <p:cNvSpPr txBox="1"/>
          <p:nvPr/>
        </p:nvSpPr>
        <p:spPr>
          <a:xfrm>
            <a:off x="6571860" y="2967335"/>
            <a:ext cx="34765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-    Capteur de température de l’air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FF0000"/>
                </a:solidFill>
              </a:rPr>
              <a:t>Ventilateur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FF0000"/>
                </a:solidFill>
              </a:rPr>
              <a:t>Ouverture trappe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699D445-D118-4751-D541-CBE1BF68201B}"/>
              </a:ext>
            </a:extLst>
          </p:cNvPr>
          <p:cNvSpPr txBox="1"/>
          <p:nvPr/>
        </p:nvSpPr>
        <p:spPr>
          <a:xfrm>
            <a:off x="6571860" y="3874837"/>
            <a:ext cx="5481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Lampes LED type soleil (toutes les longueurs d’ondes)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Capteur de lumière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5884A66-D46E-B585-4D83-CEDF1E22200B}"/>
              </a:ext>
            </a:extLst>
          </p:cNvPr>
          <p:cNvSpPr txBox="1"/>
          <p:nvPr/>
        </p:nvSpPr>
        <p:spPr>
          <a:xfrm>
            <a:off x="6594869" y="4448584"/>
            <a:ext cx="2208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-   Horloge temps réel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ACF3399-3429-14C3-6CB5-0C9CA9287430}"/>
              </a:ext>
            </a:extLst>
          </p:cNvPr>
          <p:cNvSpPr txBox="1"/>
          <p:nvPr/>
        </p:nvSpPr>
        <p:spPr>
          <a:xfrm>
            <a:off x="838200" y="5353256"/>
            <a:ext cx="268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Pour interagir avec nous,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80100CA-952A-3DA9-462E-E59CB3C84DE7}"/>
              </a:ext>
            </a:extLst>
          </p:cNvPr>
          <p:cNvSpPr txBox="1"/>
          <p:nvPr/>
        </p:nvSpPr>
        <p:spPr>
          <a:xfrm>
            <a:off x="6571860" y="5353256"/>
            <a:ext cx="2803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Un écran d’affichage</a:t>
            </a:r>
          </a:p>
          <a:p>
            <a:pPr marL="285750" indent="-285750">
              <a:buFontTx/>
              <a:buChar char="-"/>
            </a:pPr>
            <a:r>
              <a:rPr lang="fr-FR" dirty="0"/>
              <a:t>Des boutons poussoirs</a:t>
            </a:r>
          </a:p>
          <a:p>
            <a:pPr marL="285750" indent="-285750">
              <a:buFontTx/>
              <a:buChar char="-"/>
            </a:pPr>
            <a:r>
              <a:rPr lang="fr-FR" dirty="0"/>
              <a:t>Des </a:t>
            </a:r>
            <a:r>
              <a:rPr lang="fr-FR" dirty="0" err="1"/>
              <a:t>Leds</a:t>
            </a:r>
            <a:r>
              <a:rPr lang="fr-FR" dirty="0"/>
              <a:t> de signalisation</a:t>
            </a:r>
          </a:p>
        </p:txBody>
      </p:sp>
    </p:spTree>
    <p:extLst>
      <p:ext uri="{BB962C8B-B14F-4D97-AF65-F5344CB8AC3E}">
        <p14:creationId xmlns:p14="http://schemas.microsoft.com/office/powerpoint/2010/main" val="1177161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>
            <a:extLst>
              <a:ext uri="{FF2B5EF4-FFF2-40B4-BE49-F238E27FC236}">
                <a16:creationId xmlns:a16="http://schemas.microsoft.com/office/drawing/2014/main" id="{AD073D10-EB4E-3739-DC6E-24DAC2F63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32"/>
          <a:stretch>
            <a:fillRect/>
          </a:stretch>
        </p:blipFill>
        <p:spPr>
          <a:xfrm>
            <a:off x="3789077" y="714417"/>
            <a:ext cx="5871976" cy="613652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67E8F7E-41B3-2BE2-1811-07F963657C1A}"/>
              </a:ext>
            </a:extLst>
          </p:cNvPr>
          <p:cNvSpPr txBox="1"/>
          <p:nvPr/>
        </p:nvSpPr>
        <p:spPr>
          <a:xfrm>
            <a:off x="222380" y="84222"/>
            <a:ext cx="603666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A10E6 </a:t>
            </a:r>
            <a:r>
              <a:rPr lang="fr-FR" sz="2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Les composants de la mini serre</a:t>
            </a:r>
            <a:r>
              <a:rPr lang="fr-FR" sz="2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 </a:t>
            </a: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F4BBEB7-A656-BB4E-F055-2A8BBE29E962}"/>
              </a:ext>
            </a:extLst>
          </p:cNvPr>
          <p:cNvSpPr txBox="1"/>
          <p:nvPr/>
        </p:nvSpPr>
        <p:spPr>
          <a:xfrm>
            <a:off x="9816445" y="5774085"/>
            <a:ext cx="16294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Réservoir d’eau</a:t>
            </a:r>
          </a:p>
          <a:p>
            <a:r>
              <a:rPr lang="fr-FR" dirty="0">
                <a:solidFill>
                  <a:srgbClr val="00B0F0"/>
                </a:solidFill>
              </a:rPr>
              <a:t>Pompe a eau</a:t>
            </a:r>
          </a:p>
          <a:p>
            <a:r>
              <a:rPr lang="fr-FR" dirty="0">
                <a:solidFill>
                  <a:srgbClr val="00B0F0"/>
                </a:solidFill>
              </a:rPr>
              <a:t>Niveau d’eau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0E205F4-419A-333D-E5D2-64DD50BAEEAC}"/>
              </a:ext>
            </a:extLst>
          </p:cNvPr>
          <p:cNvSpPr txBox="1"/>
          <p:nvPr/>
        </p:nvSpPr>
        <p:spPr>
          <a:xfrm>
            <a:off x="9854116" y="5404753"/>
            <a:ext cx="13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Brumisateur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BDBE279-DCF0-2D91-6FF0-40C2F627B507}"/>
              </a:ext>
            </a:extLst>
          </p:cNvPr>
          <p:cNvSpPr txBox="1"/>
          <p:nvPr/>
        </p:nvSpPr>
        <p:spPr>
          <a:xfrm>
            <a:off x="9719880" y="2103469"/>
            <a:ext cx="1822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Ouverture trappe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BA921AE-9EDE-7B08-B7EC-7A1AB52C37D4}"/>
              </a:ext>
            </a:extLst>
          </p:cNvPr>
          <p:cNvSpPr txBox="1"/>
          <p:nvPr/>
        </p:nvSpPr>
        <p:spPr>
          <a:xfrm>
            <a:off x="9259572" y="1102237"/>
            <a:ext cx="2852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Lampes LED type soleil et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capteur de lumière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DE39D2F-8595-3271-64CC-6388843D8947}"/>
              </a:ext>
            </a:extLst>
          </p:cNvPr>
          <p:cNvSpPr txBox="1"/>
          <p:nvPr/>
        </p:nvSpPr>
        <p:spPr>
          <a:xfrm>
            <a:off x="1541220" y="3429000"/>
            <a:ext cx="1979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Horloge temps réel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5CDF6F5-ECB4-FCC6-F69A-B0A087C0C5CC}"/>
              </a:ext>
            </a:extLst>
          </p:cNvPr>
          <p:cNvSpPr txBox="1"/>
          <p:nvPr/>
        </p:nvSpPr>
        <p:spPr>
          <a:xfrm>
            <a:off x="1005405" y="1111022"/>
            <a:ext cx="28034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Un écran d’affichage</a:t>
            </a:r>
          </a:p>
          <a:p>
            <a:pPr marL="285750" indent="-285750">
              <a:buFontTx/>
              <a:buChar char="-"/>
            </a:pPr>
            <a:r>
              <a:rPr lang="fr-FR" dirty="0"/>
              <a:t>Des boutons poussoirs</a:t>
            </a:r>
          </a:p>
          <a:p>
            <a:pPr marL="285750" indent="-285750">
              <a:buFontTx/>
              <a:buChar char="-"/>
            </a:pPr>
            <a:r>
              <a:rPr lang="fr-FR" dirty="0"/>
              <a:t>Des </a:t>
            </a:r>
            <a:r>
              <a:rPr lang="fr-FR" dirty="0" err="1"/>
              <a:t>Leds</a:t>
            </a:r>
            <a:r>
              <a:rPr lang="fr-FR" dirty="0"/>
              <a:t> de signalisation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45F00C1-3727-3D9E-50A8-5B195E6ED2FE}"/>
              </a:ext>
            </a:extLst>
          </p:cNvPr>
          <p:cNvSpPr txBox="1"/>
          <p:nvPr/>
        </p:nvSpPr>
        <p:spPr>
          <a:xfrm>
            <a:off x="7017275" y="6113627"/>
            <a:ext cx="1331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Ventilateur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386EFCA-F73D-0D3A-EBA6-651F0E41853A}"/>
              </a:ext>
            </a:extLst>
          </p:cNvPr>
          <p:cNvSpPr txBox="1"/>
          <p:nvPr/>
        </p:nvSpPr>
        <p:spPr>
          <a:xfrm>
            <a:off x="6924623" y="232525"/>
            <a:ext cx="31462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Capteur de température</a:t>
            </a:r>
          </a:p>
          <a:p>
            <a:r>
              <a:rPr lang="fr-FR" dirty="0">
                <a:solidFill>
                  <a:srgbClr val="FF0000"/>
                </a:solidFill>
              </a:rPr>
              <a:t> de l’air et </a:t>
            </a:r>
            <a:r>
              <a:rPr lang="fr-FR" dirty="0">
                <a:solidFill>
                  <a:srgbClr val="00B0F0"/>
                </a:solidFill>
              </a:rPr>
              <a:t>Capteur d’humidité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45870CF-B660-2EEB-4210-C4EB2A1E6094}"/>
              </a:ext>
            </a:extLst>
          </p:cNvPr>
          <p:cNvSpPr txBox="1"/>
          <p:nvPr/>
        </p:nvSpPr>
        <p:spPr>
          <a:xfrm>
            <a:off x="9661052" y="4456722"/>
            <a:ext cx="2450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Capteur d’humidité sol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21E885E-89F6-DA04-2A34-32F8E8F78CFA}"/>
              </a:ext>
            </a:extLst>
          </p:cNvPr>
          <p:cNvSpPr txBox="1"/>
          <p:nvPr/>
        </p:nvSpPr>
        <p:spPr>
          <a:xfrm>
            <a:off x="9927771" y="3965510"/>
            <a:ext cx="1240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Carte relais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854A268-A6F2-2EF3-303E-8D6F86A0AAC9}"/>
              </a:ext>
            </a:extLst>
          </p:cNvPr>
          <p:cNvSpPr txBox="1"/>
          <p:nvPr/>
        </p:nvSpPr>
        <p:spPr>
          <a:xfrm>
            <a:off x="1768911" y="6205030"/>
            <a:ext cx="1827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Bloc alimentation</a:t>
            </a:r>
          </a:p>
        </p:txBody>
      </p: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D8C2CD97-F7E1-C2D5-15D2-F87306F1CA66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8826762" y="2288135"/>
            <a:ext cx="893119" cy="3151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D6F007A9-2E84-4D15-060B-8EB8611C1070}"/>
              </a:ext>
            </a:extLst>
          </p:cNvPr>
          <p:cNvCxnSpPr>
            <a:stCxn id="18" idx="2"/>
          </p:cNvCxnSpPr>
          <p:nvPr/>
        </p:nvCxnSpPr>
        <p:spPr>
          <a:xfrm rot="5400000" flipH="1">
            <a:off x="9810000" y="3749518"/>
            <a:ext cx="9320" cy="2143752"/>
          </a:xfrm>
          <a:prstGeom prst="bentConnector4">
            <a:avLst>
              <a:gd name="adj1" fmla="val -2452790"/>
              <a:gd name="adj2" fmla="val 385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6F9D9851-DFAE-6681-A611-AECECF750904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9359023" y="3186758"/>
            <a:ext cx="40834" cy="23370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 : en angle 33">
            <a:extLst>
              <a:ext uri="{FF2B5EF4-FFF2-40B4-BE49-F238E27FC236}">
                <a16:creationId xmlns:a16="http://schemas.microsoft.com/office/drawing/2014/main" id="{DD08F6B9-CD10-F327-AD7A-CE614FA81848}"/>
              </a:ext>
            </a:extLst>
          </p:cNvPr>
          <p:cNvCxnSpPr>
            <a:stCxn id="8" idx="1"/>
          </p:cNvCxnSpPr>
          <p:nvPr/>
        </p:nvCxnSpPr>
        <p:spPr>
          <a:xfrm rot="10800000" flipV="1">
            <a:off x="9049386" y="5589419"/>
            <a:ext cx="804731" cy="3393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333C3CBB-3244-8060-C965-6AAD99B8D019}"/>
              </a:ext>
            </a:extLst>
          </p:cNvPr>
          <p:cNvCxnSpPr/>
          <p:nvPr/>
        </p:nvCxnSpPr>
        <p:spPr>
          <a:xfrm rot="10800000" flipV="1">
            <a:off x="9144001" y="6018245"/>
            <a:ext cx="783771" cy="953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 : en angle 37">
            <a:extLst>
              <a:ext uri="{FF2B5EF4-FFF2-40B4-BE49-F238E27FC236}">
                <a16:creationId xmlns:a16="http://schemas.microsoft.com/office/drawing/2014/main" id="{A0E27783-015D-E4F5-9B2D-220FE56911D2}"/>
              </a:ext>
            </a:extLst>
          </p:cNvPr>
          <p:cNvCxnSpPr>
            <a:stCxn id="7" idx="1"/>
          </p:cNvCxnSpPr>
          <p:nvPr/>
        </p:nvCxnSpPr>
        <p:spPr>
          <a:xfrm rot="10800000" flipV="1">
            <a:off x="9123041" y="6235749"/>
            <a:ext cx="693404" cy="3897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3C57D318-FA4F-382C-3A60-E91D57159302}"/>
              </a:ext>
            </a:extLst>
          </p:cNvPr>
          <p:cNvSpPr txBox="1"/>
          <p:nvPr/>
        </p:nvSpPr>
        <p:spPr>
          <a:xfrm>
            <a:off x="9874281" y="2631723"/>
            <a:ext cx="1513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Resistance de </a:t>
            </a:r>
          </a:p>
          <a:p>
            <a:r>
              <a:rPr lang="fr-FR" dirty="0"/>
              <a:t>chauffage air</a:t>
            </a:r>
          </a:p>
        </p:txBody>
      </p:sp>
      <p:cxnSp>
        <p:nvCxnSpPr>
          <p:cNvPr id="41" name="Connecteur : en angle 40">
            <a:extLst>
              <a:ext uri="{FF2B5EF4-FFF2-40B4-BE49-F238E27FC236}">
                <a16:creationId xmlns:a16="http://schemas.microsoft.com/office/drawing/2014/main" id="{4E61463F-2474-56F3-DB53-272AF7C21ED9}"/>
              </a:ext>
            </a:extLst>
          </p:cNvPr>
          <p:cNvCxnSpPr>
            <a:stCxn id="39" idx="1"/>
          </p:cNvCxnSpPr>
          <p:nvPr/>
        </p:nvCxnSpPr>
        <p:spPr>
          <a:xfrm rot="10800000">
            <a:off x="7931021" y="2754091"/>
            <a:ext cx="1943261" cy="2007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65C4A1F5-43E9-998F-6E74-F8C769EEBC82}"/>
              </a:ext>
            </a:extLst>
          </p:cNvPr>
          <p:cNvCxnSpPr>
            <a:stCxn id="10" idx="2"/>
            <a:endCxn id="10" idx="1"/>
          </p:cNvCxnSpPr>
          <p:nvPr/>
        </p:nvCxnSpPr>
        <p:spPr>
          <a:xfrm rot="5400000" flipH="1">
            <a:off x="9811101" y="873874"/>
            <a:ext cx="323165" cy="1426224"/>
          </a:xfrm>
          <a:prstGeom prst="bentConnector4">
            <a:avLst>
              <a:gd name="adj1" fmla="val -70738"/>
              <a:gd name="adj2" fmla="val 774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 : en angle 46">
            <a:extLst>
              <a:ext uri="{FF2B5EF4-FFF2-40B4-BE49-F238E27FC236}">
                <a16:creationId xmlns:a16="http://schemas.microsoft.com/office/drawing/2014/main" id="{58AE3018-9BE8-26BD-E755-D6DF18E172C4}"/>
              </a:ext>
            </a:extLst>
          </p:cNvPr>
          <p:cNvCxnSpPr>
            <a:cxnSpLocks/>
            <a:stCxn id="10" idx="0"/>
          </p:cNvCxnSpPr>
          <p:nvPr/>
        </p:nvCxnSpPr>
        <p:spPr>
          <a:xfrm rot="16200000" flipH="1" flipV="1">
            <a:off x="9487294" y="67981"/>
            <a:ext cx="164246" cy="2232758"/>
          </a:xfrm>
          <a:prstGeom prst="bentConnector4">
            <a:avLst>
              <a:gd name="adj1" fmla="val -139181"/>
              <a:gd name="adj2" fmla="val 928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 : en angle 50">
            <a:extLst>
              <a:ext uri="{FF2B5EF4-FFF2-40B4-BE49-F238E27FC236}">
                <a16:creationId xmlns:a16="http://schemas.microsoft.com/office/drawing/2014/main" id="{EECF0D2B-6350-F2F5-F4CE-A154F7A085F9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 flipH="1" flipV="1">
            <a:off x="6924622" y="555691"/>
            <a:ext cx="140951" cy="433354"/>
          </a:xfrm>
          <a:prstGeom prst="bentConnector4">
            <a:avLst>
              <a:gd name="adj1" fmla="val -162184"/>
              <a:gd name="adj2" fmla="val 872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 : en angle 53">
            <a:extLst>
              <a:ext uri="{FF2B5EF4-FFF2-40B4-BE49-F238E27FC236}">
                <a16:creationId xmlns:a16="http://schemas.microsoft.com/office/drawing/2014/main" id="{D6348E59-A669-2E27-C1EC-469A46F3228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520673" y="3613666"/>
            <a:ext cx="329674" cy="2585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409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633CA58-C9FC-BA37-E944-E203200B7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431" y="895738"/>
            <a:ext cx="6463633" cy="561274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76E546F-C36B-C990-4FCD-2CD02023E25F}"/>
              </a:ext>
            </a:extLst>
          </p:cNvPr>
          <p:cNvSpPr txBox="1"/>
          <p:nvPr/>
        </p:nvSpPr>
        <p:spPr>
          <a:xfrm>
            <a:off x="222380" y="84222"/>
            <a:ext cx="603666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A10E</a:t>
            </a:r>
            <a:r>
              <a:rPr lang="fr-FR" sz="4400" dirty="0">
                <a:solidFill>
                  <a:srgbClr val="000000"/>
                </a:solidFill>
                <a:latin typeface="Calibri Light"/>
              </a:rPr>
              <a:t>7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</a:t>
            </a:r>
            <a:r>
              <a:rPr lang="fr-FR" sz="28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Nomenclature et brochages</a:t>
            </a:r>
            <a:r>
              <a:rPr lang="fr-FR" sz="28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 </a:t>
            </a:r>
            <a:endParaRPr lang="fr-FR" sz="28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49332607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D72D57-93A9-4052-09F2-720A659570B9}"/>
              </a:ext>
            </a:extLst>
          </p:cNvPr>
          <p:cNvSpPr txBox="1"/>
          <p:nvPr/>
        </p:nvSpPr>
        <p:spPr>
          <a:xfrm>
            <a:off x="838200" y="51711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A10E</a:t>
            </a:r>
            <a:r>
              <a:rPr lang="fr-FR" sz="4400" dirty="0">
                <a:solidFill>
                  <a:srgbClr val="000000"/>
                </a:solidFill>
                <a:latin typeface="Calibri Light"/>
              </a:rPr>
              <a:t>8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</a:t>
            </a:r>
            <a:r>
              <a:rPr lang="fr-FR" sz="4400" dirty="0" err="1">
                <a:solidFill>
                  <a:srgbClr val="000000"/>
                </a:solidFill>
                <a:latin typeface="Calibri Light"/>
              </a:rPr>
              <a:t>S</a:t>
            </a:r>
            <a:r>
              <a:rPr lang="fr-FR" sz="44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 Light"/>
              </a:rPr>
              <a:t>héma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électrique</a:t>
            </a: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29EE188-8953-47B7-CCF3-A9A4B16B4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77" y="718515"/>
            <a:ext cx="7715922" cy="542096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4057645-A33B-BDC8-0157-A4E3EC2F62F4}"/>
              </a:ext>
            </a:extLst>
          </p:cNvPr>
          <p:cNvSpPr txBox="1"/>
          <p:nvPr/>
        </p:nvSpPr>
        <p:spPr>
          <a:xfrm>
            <a:off x="7221894" y="718515"/>
            <a:ext cx="403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 quoi sert le capteur de mouvement PIR</a:t>
            </a:r>
          </a:p>
        </p:txBody>
      </p:sp>
    </p:spTree>
    <p:extLst>
      <p:ext uri="{BB962C8B-B14F-4D97-AF65-F5344CB8AC3E}">
        <p14:creationId xmlns:p14="http://schemas.microsoft.com/office/powerpoint/2010/main" val="27229067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48DCCA-414A-8778-1B97-08B8F0B37316}"/>
              </a:ext>
            </a:extLst>
          </p:cNvPr>
          <p:cNvSpPr txBox="1"/>
          <p:nvPr/>
        </p:nvSpPr>
        <p:spPr>
          <a:xfrm>
            <a:off x="838200" y="51711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A10E</a:t>
            </a:r>
            <a:r>
              <a:rPr lang="fr-FR" sz="4400" dirty="0">
                <a:solidFill>
                  <a:srgbClr val="000000"/>
                </a:solidFill>
                <a:latin typeface="Calibri Light"/>
              </a:rPr>
              <a:t>9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</a:t>
            </a:r>
            <a:r>
              <a:rPr lang="fr-FR" sz="2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L</a:t>
            </a:r>
            <a:r>
              <a:rPr lang="fr-FR" sz="2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e regroupement des fonctions élémentaires (étapes) et du PCB</a:t>
            </a: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502B34B-C0D1-9DB3-7397-3AF6C9A8D63A}"/>
              </a:ext>
            </a:extLst>
          </p:cNvPr>
          <p:cNvSpPr txBox="1"/>
          <p:nvPr/>
        </p:nvSpPr>
        <p:spPr>
          <a:xfrm>
            <a:off x="1336571" y="1007706"/>
            <a:ext cx="10017229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 Les fonctions:</a:t>
            </a:r>
          </a:p>
          <a:p>
            <a:pPr marL="342900" indent="-342900">
              <a:lnSpc>
                <a:spcPct val="200000"/>
              </a:lnSpc>
              <a:buAutoNum type="arabicParenR"/>
            </a:pPr>
            <a:r>
              <a:rPr lang="fr-FR" dirty="0"/>
              <a:t>Programme de gestion des entrées IHM (interface homme machine)  et modifications des paramètres</a:t>
            </a:r>
          </a:p>
          <a:p>
            <a:pPr marL="342900" indent="-342900">
              <a:lnSpc>
                <a:spcPct val="200000"/>
              </a:lnSpc>
              <a:buAutoNum type="arabicParenR"/>
            </a:pPr>
            <a:r>
              <a:rPr lang="fr-FR" dirty="0"/>
              <a:t>Gestion du capteur humidité de l’air et commande du brumisateur, du ventilateur et du servo moteur</a:t>
            </a:r>
          </a:p>
          <a:p>
            <a:pPr marL="342900" indent="-342900">
              <a:lnSpc>
                <a:spcPct val="200000"/>
              </a:lnSpc>
              <a:buAutoNum type="arabicParenR"/>
            </a:pPr>
            <a:r>
              <a:rPr lang="fr-FR" dirty="0"/>
              <a:t>Gestion du capteur d’humidité du sol et commande de la pompe a eau, gestion du niveau d’eau</a:t>
            </a:r>
          </a:p>
          <a:p>
            <a:pPr marL="342900" indent="-342900">
              <a:lnSpc>
                <a:spcPct val="200000"/>
              </a:lnSpc>
              <a:buAutoNum type="arabicParenR"/>
            </a:pPr>
            <a:r>
              <a:rPr lang="fr-FR" dirty="0"/>
              <a:t>Gestion du capteur de température du pot de fleur et commande de chauffage du pot</a:t>
            </a:r>
          </a:p>
          <a:p>
            <a:pPr marL="342900" indent="-342900">
              <a:lnSpc>
                <a:spcPct val="200000"/>
              </a:lnSpc>
              <a:buAutoNum type="arabicParenR"/>
            </a:pPr>
            <a:r>
              <a:rPr lang="fr-FR" dirty="0"/>
              <a:t>Gestion de l’horloge temps réel et de la lumière (bande </a:t>
            </a:r>
            <a:r>
              <a:rPr lang="fr-FR" dirty="0" err="1"/>
              <a:t>led</a:t>
            </a:r>
            <a:r>
              <a:rPr lang="fr-FR" dirty="0"/>
              <a:t>) et du capteur de lumière</a:t>
            </a:r>
          </a:p>
          <a:p>
            <a:pPr>
              <a:lnSpc>
                <a:spcPct val="200000"/>
              </a:lnSpc>
            </a:pPr>
            <a:r>
              <a:rPr lang="fr-FR" dirty="0"/>
              <a:t>Le PCB :</a:t>
            </a:r>
          </a:p>
          <a:p>
            <a:pPr>
              <a:lnSpc>
                <a:spcPct val="200000"/>
              </a:lnSpc>
            </a:pPr>
            <a:r>
              <a:rPr lang="fr-FR" dirty="0"/>
              <a:t>1) Affichage boutons et </a:t>
            </a:r>
            <a:r>
              <a:rPr lang="fr-FR" dirty="0" err="1"/>
              <a:t>leds</a:t>
            </a:r>
            <a:endParaRPr lang="fr-FR" dirty="0"/>
          </a:p>
          <a:p>
            <a:pPr>
              <a:lnSpc>
                <a:spcPct val="200000"/>
              </a:lnSpc>
            </a:pPr>
            <a:r>
              <a:rPr lang="fr-FR" dirty="0"/>
              <a:t>2) Le Pico et connectique</a:t>
            </a:r>
          </a:p>
          <a:p>
            <a:pPr>
              <a:lnSpc>
                <a:spcPct val="200000"/>
              </a:lnSpc>
            </a:pPr>
            <a:r>
              <a:rPr lang="fr-FR" dirty="0"/>
              <a:t>3) Les relais</a:t>
            </a:r>
          </a:p>
          <a:p>
            <a:pPr>
              <a:lnSpc>
                <a:spcPct val="200000"/>
              </a:lnSpc>
            </a:pPr>
            <a:endParaRPr lang="fr-FR" dirty="0"/>
          </a:p>
          <a:p>
            <a:pPr marL="342900" indent="-342900">
              <a:buAutoNum type="arabicParenR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32652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17C66-A4FE-F188-9C12-19F3E9A85B66}"/>
              </a:ext>
            </a:extLst>
          </p:cNvPr>
          <p:cNvSpPr txBox="1"/>
          <p:nvPr/>
        </p:nvSpPr>
        <p:spPr>
          <a:xfrm>
            <a:off x="838200" y="51711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A9E</a:t>
            </a:r>
            <a:r>
              <a:rPr lang="fr-FR" sz="4400" dirty="0">
                <a:solidFill>
                  <a:srgbClr val="000000"/>
                </a:solidFill>
                <a:latin typeface="Calibri Light"/>
              </a:rPr>
              <a:t>10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</a:t>
            </a:r>
            <a:r>
              <a:rPr lang="fr-FR" sz="2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Préparation du positionnement des composants et des fils sur PCB</a:t>
            </a:r>
            <a:endParaRPr lang="fr-FR" sz="2400" b="0" i="0" u="none" strike="noStrike" kern="1200" cap="none" spc="0" baseline="0" dirty="0">
              <a:solidFill>
                <a:srgbClr val="C00000"/>
              </a:solidFill>
              <a:uFillTx/>
              <a:latin typeface="Calibri Light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475AE1-55C5-2111-7AB6-5171F868F7CF}"/>
              </a:ext>
            </a:extLst>
          </p:cNvPr>
          <p:cNvSpPr txBox="1"/>
          <p:nvPr/>
        </p:nvSpPr>
        <p:spPr>
          <a:xfrm>
            <a:off x="653142" y="1315616"/>
            <a:ext cx="110210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L’objectif est de positionner les composants sur un PCB et préparer leurs interconnexions.</a:t>
            </a:r>
          </a:p>
          <a:p>
            <a:r>
              <a:rPr lang="fr-FR" dirty="0"/>
              <a:t>Le PCB perforé est au pas de 2,54mm</a:t>
            </a:r>
          </a:p>
          <a:p>
            <a:endParaRPr lang="fr-FR" dirty="0"/>
          </a:p>
          <a:p>
            <a:r>
              <a:rPr lang="fr-FR" dirty="0"/>
              <a:t>L’exercice  va se faire sur une feuille quadrillée au pas de 5mm, après on compotera le nombre de pastilles de cuivre</a:t>
            </a:r>
          </a:p>
          <a:p>
            <a:r>
              <a:rPr lang="fr-FR" dirty="0"/>
              <a:t>Pour poser les connecteurs et composants.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0ED03C-0CDD-FC36-284C-699717EBE3A9}"/>
              </a:ext>
            </a:extLst>
          </p:cNvPr>
          <p:cNvSpPr txBox="1"/>
          <p:nvPr/>
        </p:nvSpPr>
        <p:spPr>
          <a:xfrm>
            <a:off x="838200" y="3429000"/>
            <a:ext cx="9344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Pour les débutants, on va câbler une </a:t>
            </a:r>
            <a:r>
              <a:rPr lang="fr-FR" dirty="0" err="1"/>
              <a:t>led</a:t>
            </a:r>
            <a:r>
              <a:rPr lang="fr-FR" dirty="0"/>
              <a:t> et un Bouton poussoir avec une pile… voir présentation 1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013359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F09BE-6AEF-0159-9208-1F9B8714EC12}"/>
              </a:ext>
            </a:extLst>
          </p:cNvPr>
          <p:cNvSpPr txBox="1"/>
          <p:nvPr/>
        </p:nvSpPr>
        <p:spPr>
          <a:xfrm>
            <a:off x="838200" y="51711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A9E11 </a:t>
            </a:r>
            <a:r>
              <a:rPr lang="fr-FR" sz="2400" dirty="0">
                <a:solidFill>
                  <a:srgbClr val="C00000"/>
                </a:solidFill>
                <a:latin typeface="Calibri Light"/>
              </a:rPr>
              <a:t>U</a:t>
            </a:r>
            <a:r>
              <a:rPr lang="fr-FR" sz="2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ne proposition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dirty="0">
                <a:solidFill>
                  <a:srgbClr val="C00000"/>
                </a:solidFill>
                <a:latin typeface="Calibri Light"/>
              </a:rPr>
              <a:t>d</a:t>
            </a:r>
            <a:r>
              <a:rPr lang="fr-FR" sz="2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e tracé des pistes.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4400" b="0" i="0" u="none" strike="noStrike" kern="1200" cap="none" spc="0" baseline="0" dirty="0">
              <a:solidFill>
                <a:srgbClr val="C00000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6428D32-A33A-315B-5D15-A751DA894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232" y="247353"/>
            <a:ext cx="6436567" cy="655893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85DF71F-69EA-2B9A-06A5-F8E6E9A99C79}"/>
              </a:ext>
            </a:extLst>
          </p:cNvPr>
          <p:cNvSpPr txBox="1"/>
          <p:nvPr/>
        </p:nvSpPr>
        <p:spPr>
          <a:xfrm>
            <a:off x="279918" y="1642187"/>
            <a:ext cx="441140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Routage de PCB</a:t>
            </a:r>
          </a:p>
          <a:p>
            <a:r>
              <a:rPr lang="fr-FR" dirty="0"/>
              <a:t>Le routage de PCB (</a:t>
            </a:r>
            <a:r>
              <a:rPr lang="fr-FR" dirty="0" err="1"/>
              <a:t>Printed</a:t>
            </a:r>
            <a:r>
              <a:rPr lang="fr-FR" dirty="0"/>
              <a:t> Circuit </a:t>
            </a:r>
            <a:r>
              <a:rPr lang="fr-FR" dirty="0" err="1"/>
              <a:t>Board</a:t>
            </a:r>
            <a:r>
              <a:rPr lang="fr-FR" dirty="0"/>
              <a:t>) </a:t>
            </a:r>
          </a:p>
          <a:p>
            <a:r>
              <a:rPr lang="fr-FR" dirty="0"/>
              <a:t>est une étape cruciale dans la conception</a:t>
            </a:r>
          </a:p>
          <a:p>
            <a:r>
              <a:rPr lang="fr-FR" dirty="0"/>
              <a:t>et la fabrication des produits électroniques.</a:t>
            </a:r>
          </a:p>
          <a:p>
            <a:r>
              <a:rPr lang="fr-FR" dirty="0"/>
              <a:t>Il consiste à créer des chemins (liaisons) pour</a:t>
            </a:r>
          </a:p>
          <a:p>
            <a:r>
              <a:rPr lang="fr-FR" dirty="0"/>
              <a:t>que les signaux électriques circulent d’un</a:t>
            </a:r>
          </a:p>
          <a:p>
            <a:r>
              <a:rPr lang="fr-FR" dirty="0"/>
              <a:t>composant à l'autre sur une carte de circuit</a:t>
            </a:r>
          </a:p>
          <a:p>
            <a:r>
              <a:rPr lang="fr-FR" dirty="0"/>
              <a:t>imprimé.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  <a:latin typeface="Calibri Light"/>
              </a:rPr>
              <a:t>Ici, cela permet de préparer le câblage du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  <a:latin typeface="Calibri Light"/>
              </a:rPr>
              <a:t>PCB perforé sur lequel on viendra positionner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  <a:latin typeface="Calibri Light"/>
              </a:rPr>
              <a:t>les composants, les supports, les connecteurs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  <a:latin typeface="Calibri Light"/>
              </a:rPr>
              <a:t>et souder les straps (fils de liaison).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90925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42285-6BFB-10B4-9AB0-55A0D8267029}"/>
              </a:ext>
            </a:extLst>
          </p:cNvPr>
          <p:cNvSpPr txBox="1"/>
          <p:nvPr/>
        </p:nvSpPr>
        <p:spPr>
          <a:xfrm>
            <a:off x="838203" y="365129"/>
            <a:ext cx="10515600" cy="6450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0" cap="none" spc="0" baseline="0" dirty="0">
                <a:solidFill>
                  <a:srgbClr val="000000"/>
                </a:solidFill>
                <a:uFillTx/>
                <a:latin typeface="Calibri Light"/>
              </a:rPr>
              <a:t>GI1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</a:t>
            </a:r>
            <a:r>
              <a:rPr lang="fr-FR" sz="4400" b="0" i="0" u="none" strike="noStrike" kern="1200" cap="none" spc="0" baseline="0" dirty="0">
                <a:solidFill>
                  <a:srgbClr val="7030A0"/>
                </a:solidFill>
                <a:uFillTx/>
                <a:latin typeface="Calibri Light"/>
              </a:rPr>
              <a:t>Glossaire informatique1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C2F980E-4512-7ABD-6773-B3CACC0206FD}"/>
              </a:ext>
            </a:extLst>
          </p:cNvPr>
          <p:cNvSpPr txBox="1"/>
          <p:nvPr/>
        </p:nvSpPr>
        <p:spPr>
          <a:xfrm>
            <a:off x="719824" y="1087212"/>
            <a:ext cx="11010445" cy="618630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Instruction du langage : 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ne nécessite pas d’importer de module pour les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utiliser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print(‘Bonjour’)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affiche Bonjour sur la console du PC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While test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Boucle tant que test est VRAI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import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pour importer des modules contenant des fonctions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import time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permet d’appeler les fonctions relatives au temps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	time.sleep( x ) :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arrête l’exécution du programme pendant x secondes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</a:t>
            </a: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import machine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module contenant les fonctions permettant d’agir sur les périphériques du pi pico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from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pour simplifier l’écriture on importe certaines fonctions directement dans une variable à l’aide de « from »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from machine import Pin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permet d’accéder à la fonction Pin du module machine uniquement.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	</a:t>
            </a: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ma_led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_verte = Pin( n, Pin.OUT )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permet d’indiquer comment on souhaite utiliser un GPIO, 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		ici on a configuré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le p I/O N° n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en sortie tout ou rien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	ma_led_verte.Toggle()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inverse l’état de l’I/O associé à la variable. 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		Ici l’IO n passera de l’état haut (+3.3v) à l’état bas (0v) ou inversement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#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En début de ligne permet d’écrire un commentaire, ce qui est écrit n’est pas une instruction et donc n’est pas pris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en compte par le programme.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Variable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A=A+1 -&gt;Nouvelle valeur = ancienne valeur+1 , peut s’écrire A+=1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print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(‘’ texte ’’, A), </a:t>
            </a: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input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(‘’texte’’, B)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Opérateurs: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+,-,*,/,%,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      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Données: int(), float(), str(), bool()=True or False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313F9714-E04D-56F5-FE7F-14123E7EC2C2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C2B06A3-4CAC-458E-B2F2-F1F2ED62ABCA}" type="slidenum">
              <a:rPr/>
              <a:t>14</a:t>
            </a:fld>
            <a:endParaRPr lang="fr-FR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8">
            <a:extLst>
              <a:ext uri="{FF2B5EF4-FFF2-40B4-BE49-F238E27FC236}">
                <a16:creationId xmlns:a16="http://schemas.microsoft.com/office/drawing/2014/main" id="{1CC65770-372B-2281-DE61-BA1D6C7674CC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C5CC449-CA62-4452-B34B-F0406D31D794}" type="slidenum">
              <a:rPr/>
              <a:t>14</a:t>
            </a:fld>
            <a:endParaRPr lang="fr-FR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6" name="Espace réservé de la date 9">
            <a:extLst>
              <a:ext uri="{FF2B5EF4-FFF2-40B4-BE49-F238E27FC236}">
                <a16:creationId xmlns:a16="http://schemas.microsoft.com/office/drawing/2014/main" id="{B036E1B5-0964-B825-4A99-6017ADED8F22}"/>
              </a:ext>
            </a:extLst>
          </p:cNvPr>
          <p:cNvSpPr txBox="1"/>
          <p:nvPr/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rPr>
              <a:t>06/11/2023</a:t>
            </a:r>
          </a:p>
        </p:txBody>
      </p:sp>
      <p:sp>
        <p:nvSpPr>
          <p:cNvPr id="7" name="Espace réservé du pied de page 10">
            <a:extLst>
              <a:ext uri="{FF2B5EF4-FFF2-40B4-BE49-F238E27FC236}">
                <a16:creationId xmlns:a16="http://schemas.microsoft.com/office/drawing/2014/main" id="{9E38DF72-6D29-C6CD-9936-504C23A0F1C0}"/>
              </a:ext>
            </a:extLst>
          </p:cNvPr>
          <p:cNvSpPr txBox="1"/>
          <p:nvPr/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rPr>
              <a:t>Atelier Raspi N°2 Novembre 2023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33697-659B-EF3C-DB28-B7FCFD827960}"/>
              </a:ext>
            </a:extLst>
          </p:cNvPr>
          <p:cNvSpPr txBox="1"/>
          <p:nvPr/>
        </p:nvSpPr>
        <p:spPr>
          <a:xfrm>
            <a:off x="838203" y="365129"/>
            <a:ext cx="10515600" cy="6450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0" cap="none" spc="0" baseline="0" dirty="0">
                <a:solidFill>
                  <a:srgbClr val="000000"/>
                </a:solidFill>
                <a:uFillTx/>
                <a:latin typeface="Calibri Light"/>
              </a:rPr>
              <a:t>GI2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</a:t>
            </a:r>
            <a:r>
              <a:rPr lang="fr-FR" sz="4400" b="0" i="0" u="none" strike="noStrike" kern="1200" cap="none" spc="0" baseline="0" dirty="0">
                <a:solidFill>
                  <a:srgbClr val="7030A0"/>
                </a:solidFill>
                <a:uFillTx/>
                <a:latin typeface="Calibri Light"/>
              </a:rPr>
              <a:t>Glossaire informatique</a:t>
            </a:r>
            <a:r>
              <a:rPr lang="fr-FR" sz="4400" b="0" i="0" u="none" strike="noStrike" kern="0" cap="none" spc="0" baseline="0" dirty="0">
                <a:solidFill>
                  <a:srgbClr val="7030A0"/>
                </a:solidFill>
                <a:uFillTx/>
                <a:latin typeface="Calibri Light"/>
              </a:rPr>
              <a:t>2</a:t>
            </a:r>
            <a:endParaRPr lang="fr-FR" sz="4400" b="0" i="0" u="none" strike="noStrike" kern="1200" cap="none" spc="0" baseline="0" dirty="0">
              <a:solidFill>
                <a:srgbClr val="7030A0"/>
              </a:solidFill>
              <a:uFillTx/>
              <a:latin typeface="Calibri Ligh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CF474ED-A888-47F6-879B-8BC76162A3FF}"/>
              </a:ext>
            </a:extLst>
          </p:cNvPr>
          <p:cNvSpPr txBox="1"/>
          <p:nvPr/>
        </p:nvSpPr>
        <p:spPr>
          <a:xfrm>
            <a:off x="838203" y="1210052"/>
            <a:ext cx="7815084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Liste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-&gt; Création d’une liste, liste_de_noms =[‘Toto’, ‘Hubert’, ‘Jacques’, ‘Philippe’]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liste_quelconque = ['Toto', 1, 'Philippe', 4,5,6]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print (‘Nombre d’articles dans la liste : ‘, len(liste_quelconque))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for items in liste_quelconque: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   print (items)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-&gt; parcours la liste et imprime chaque item de la liste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A9D986-4230-7953-B1FB-08633205866F}"/>
              </a:ext>
            </a:extLst>
          </p:cNvPr>
          <p:cNvSpPr txBox="1"/>
          <p:nvPr/>
        </p:nvSpPr>
        <p:spPr>
          <a:xfrm>
            <a:off x="838203" y="3154963"/>
            <a:ext cx="7313215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Dictionnaire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-&gt; liste d’éléments sous la  forme d’une paire key:valeur.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N = {‘voiture’:‘4 roues’, ‘moto’:’2 roues’}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On accède à la valeur d’un key en l’utilisant comme index (clé de recherche):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print(N[‘voiture’])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-&gt; ‘4 roues’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48C2CE6-D24A-E61C-0F30-82A687DEB50A}"/>
              </a:ext>
            </a:extLst>
          </p:cNvPr>
          <p:cNvSpPr txBox="1"/>
          <p:nvPr/>
        </p:nvSpPr>
        <p:spPr>
          <a:xfrm>
            <a:off x="838203" y="4361212"/>
            <a:ext cx="736131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Fonction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-&gt; 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def nom_de_ma_fonction(args) 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on peut ensuite l’appeler dans un programme avec: 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nom_de_ma_fonction()</a:t>
            </a:r>
          </a:p>
        </p:txBody>
      </p:sp>
      <p:sp>
        <p:nvSpPr>
          <p:cNvPr id="6" name="ZoneTexte 6">
            <a:extLst>
              <a:ext uri="{FF2B5EF4-FFF2-40B4-BE49-F238E27FC236}">
                <a16:creationId xmlns:a16="http://schemas.microsoft.com/office/drawing/2014/main" id="{93A93A29-92CE-C00A-6B75-A071EF0FC8E0}"/>
              </a:ext>
            </a:extLst>
          </p:cNvPr>
          <p:cNvSpPr txBox="1"/>
          <p:nvPr/>
        </p:nvSpPr>
        <p:spPr>
          <a:xfrm>
            <a:off x="838203" y="5007537"/>
            <a:ext cx="7935181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Module-&gt; from machine import Pin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-&gt; importe la fonction Pin du module machine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P0 = Pin(0, Pin.OUT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) -&gt; on paramètre le GPIO 0 en sortie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P0.value(1)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-&gt;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on lui donne la valeur 1 ou état « haut »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1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C5037-49A8-A777-6342-7CF33C1BE266}"/>
              </a:ext>
            </a:extLst>
          </p:cNvPr>
          <p:cNvSpPr txBox="1"/>
          <p:nvPr/>
        </p:nvSpPr>
        <p:spPr>
          <a:xfrm>
            <a:off x="838203" y="365129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GI3 </a:t>
            </a:r>
            <a:r>
              <a:rPr lang="fr-FR" sz="3600" b="0" i="0" u="none" strike="noStrike" kern="1200" cap="none" spc="0" baseline="0" dirty="0">
                <a:solidFill>
                  <a:srgbClr val="7030A0"/>
                </a:solidFill>
                <a:uFillTx/>
                <a:latin typeface="Calibri Light"/>
              </a:rPr>
              <a:t>Glossaire informatique </a:t>
            </a:r>
            <a:r>
              <a:rPr lang="fr-FR" sz="3600" b="0" i="0" u="none" strike="noStrike" kern="0" cap="none" spc="0" baseline="0" dirty="0">
                <a:solidFill>
                  <a:srgbClr val="7030A0"/>
                </a:solidFill>
                <a:uFillTx/>
                <a:latin typeface="Calibri Light"/>
              </a:rPr>
              <a:t>3</a:t>
            </a:r>
            <a:endParaRPr lang="fr-FR" sz="3600" b="0" i="0" u="none" strike="noStrike" kern="1200" cap="none" spc="0" baseline="0" dirty="0">
              <a:solidFill>
                <a:srgbClr val="4472C4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4CC87C-9D34-AB4A-419B-35CFB2BC8F93}"/>
              </a:ext>
            </a:extLst>
          </p:cNvPr>
          <p:cNvSpPr txBox="1"/>
          <p:nvPr/>
        </p:nvSpPr>
        <p:spPr>
          <a:xfrm>
            <a:off x="738917" y="1228432"/>
            <a:ext cx="10408679" cy="5632310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Boucles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for degree in range(0,180,1):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XXXXX		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-&gt; la variable degree vat varier de 0 à 180 avec un pas de 1, pour chaque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		valeur de cette variable, XXXX sera exécuté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1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global ma_variable 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-&gt; permet d’avoir accès à ma_variable du programme principal dans la def d’une fonction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d</a:t>
            </a: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ef ma_fonction():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global ma_variable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print( ma_variable)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ma_variable += 2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return ma_variable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Return ma_variable 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-&gt; permet de donner au reste du programme la nouvelle valeur de ma_variable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ou d’une nouvelle variable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 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si creée dans la fonction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A9B1CB-32A8-A382-B5D2-17986043A822}"/>
              </a:ext>
            </a:extLst>
          </p:cNvPr>
          <p:cNvSpPr txBox="1"/>
          <p:nvPr/>
        </p:nvSpPr>
        <p:spPr>
          <a:xfrm>
            <a:off x="838203" y="365129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GI4 </a:t>
            </a:r>
            <a:r>
              <a:rPr lang="fr-FR" sz="3600" b="0" i="0" u="none" strike="noStrike" kern="1200" cap="none" spc="0" baseline="0" dirty="0">
                <a:solidFill>
                  <a:srgbClr val="4472C4"/>
                </a:solidFill>
                <a:uFillTx/>
                <a:latin typeface="Calibri Light"/>
              </a:rPr>
              <a:t>Les fonctions du module time</a:t>
            </a:r>
            <a:endParaRPr lang="fr-FR" sz="3600" b="0" i="0" u="none" strike="noStrike" kern="1200" cap="none" spc="0" baseline="0" dirty="0">
              <a:solidFill>
                <a:srgbClr val="4472C4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FAA4D9E-5A80-C60B-2DDD-73A03F448771}"/>
              </a:ext>
            </a:extLst>
          </p:cNvPr>
          <p:cNvSpPr txBox="1"/>
          <p:nvPr/>
        </p:nvSpPr>
        <p:spPr>
          <a:xfrm>
            <a:off x="812801" y="1422404"/>
            <a:ext cx="6615914" cy="2585323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t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ime.ticks_ms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() </a:t>
            </a: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-&gt; donne le temps présent en ms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time.ticks_diff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(ticks1, ticks2)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-&gt;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donne la différence entre ticks1 et 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kern="0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kern="0" dirty="0" err="1">
                <a:solidFill>
                  <a:srgbClr val="000000"/>
                </a:solidFill>
                <a:latin typeface="Calibri"/>
              </a:rPr>
              <a:t>t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ime.sleep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(2)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-&gt; met un délai de 2 secondes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kern="0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kern="0" dirty="0" err="1">
                <a:solidFill>
                  <a:srgbClr val="000000"/>
                </a:solidFill>
                <a:latin typeface="Calibri"/>
              </a:rPr>
              <a:t>utime</a:t>
            </a:r>
            <a:r>
              <a:rPr lang="fr-FR" kern="0" dirty="0">
                <a:solidFill>
                  <a:srgbClr val="000000"/>
                </a:solidFill>
                <a:latin typeface="Calibri"/>
              </a:rPr>
              <a:t> travaille comme time mais en ms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kern="0" dirty="0" err="1">
                <a:solidFill>
                  <a:srgbClr val="000000"/>
                </a:solidFill>
                <a:latin typeface="Calibri"/>
              </a:rPr>
              <a:t>u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time.sleep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(100)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-&gt; met un délai de 100ms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4D17A-6CE4-616D-0B51-6A25EE51B87C}"/>
              </a:ext>
            </a:extLst>
          </p:cNvPr>
          <p:cNvSpPr txBox="1"/>
          <p:nvPr/>
        </p:nvSpPr>
        <p:spPr>
          <a:xfrm>
            <a:off x="838203" y="365129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GI5 </a:t>
            </a:r>
            <a:r>
              <a:rPr lang="fr-FR" sz="3600" b="0" i="0" u="none" strike="noStrike" kern="1200" cap="none" spc="0" baseline="0" dirty="0">
                <a:solidFill>
                  <a:srgbClr val="7030A0"/>
                </a:solidFill>
                <a:uFillTx/>
                <a:latin typeface="Calibri Light"/>
              </a:rPr>
              <a:t>Glossaire informatique </a:t>
            </a:r>
            <a:r>
              <a:rPr lang="fr-FR" sz="3600" b="0" i="0" u="none" strike="noStrike" kern="0" cap="none" spc="0" baseline="0" dirty="0">
                <a:solidFill>
                  <a:srgbClr val="7030A0"/>
                </a:solidFill>
                <a:uFillTx/>
                <a:latin typeface="Calibri Light"/>
              </a:rPr>
              <a:t>3</a:t>
            </a:r>
            <a:endParaRPr lang="fr-FR" sz="3600" b="0" i="0" u="none" strike="noStrike" kern="1200" cap="none" spc="0" baseline="0" dirty="0">
              <a:solidFill>
                <a:srgbClr val="4472C4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590FAB2-42A1-B598-19B8-344D5E12A87F}"/>
              </a:ext>
            </a:extLst>
          </p:cNvPr>
          <p:cNvSpPr txBox="1"/>
          <p:nvPr/>
        </p:nvSpPr>
        <p:spPr>
          <a:xfrm>
            <a:off x="683491" y="985747"/>
            <a:ext cx="94196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Les tests:</a:t>
            </a:r>
          </a:p>
          <a:p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l'instruction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if...</a:t>
            </a:r>
            <a:r>
              <a:rPr lang="fr-FR" b="1" i="0" dirty="0" err="1">
                <a:solidFill>
                  <a:srgbClr val="2D3034"/>
                </a:solidFill>
                <a:effectLst/>
                <a:latin typeface="inter"/>
              </a:rPr>
              <a:t>else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permet d'exécuter un bloc de code en fonction de la véracité d'une condition,</a:t>
            </a:r>
          </a:p>
          <a:p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où le corps de l'instruction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if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s'exécute si la condition est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vraie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,</a:t>
            </a:r>
          </a:p>
          <a:p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et le corps de l'instruction </a:t>
            </a:r>
            <a:r>
              <a:rPr lang="fr-FR" b="1" i="0" dirty="0" err="1">
                <a:solidFill>
                  <a:srgbClr val="2D3034"/>
                </a:solidFill>
                <a:effectLst/>
                <a:latin typeface="inter"/>
              </a:rPr>
              <a:t>else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s'exécute si elle est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fausse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,</a:t>
            </a:r>
          </a:p>
          <a:p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avec une indentation pour définir les blocs de code.</a:t>
            </a:r>
          </a:p>
          <a:p>
            <a:endParaRPr lang="fr-FR" dirty="0"/>
          </a:p>
        </p:txBody>
      </p:sp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E2616CEC-B8F8-A79E-2087-77C2E5A6C84F}"/>
              </a:ext>
            </a:extLst>
          </p:cNvPr>
          <p:cNvSpPr/>
          <p:nvPr/>
        </p:nvSpPr>
        <p:spPr>
          <a:xfrm>
            <a:off x="1459346" y="3271537"/>
            <a:ext cx="1717963" cy="630195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32D57469-4A14-29E4-8B81-6B3EB7D35C43}"/>
              </a:ext>
            </a:extLst>
          </p:cNvPr>
          <p:cNvCxnSpPr>
            <a:cxnSpLocks/>
          </p:cNvCxnSpPr>
          <p:nvPr/>
        </p:nvCxnSpPr>
        <p:spPr>
          <a:xfrm>
            <a:off x="2244437" y="5693587"/>
            <a:ext cx="0" cy="265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037443A0-648A-D9D0-4319-967012AA9F60}"/>
              </a:ext>
            </a:extLst>
          </p:cNvPr>
          <p:cNvSpPr txBox="1"/>
          <p:nvPr/>
        </p:nvSpPr>
        <p:spPr>
          <a:xfrm>
            <a:off x="380521" y="2563243"/>
            <a:ext cx="4414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Dans la suite des instructions du programme,</a:t>
            </a:r>
          </a:p>
          <a:p>
            <a:pPr algn="ctr"/>
            <a:r>
              <a:rPr lang="fr-FR" dirty="0"/>
              <a:t>On arrive à un test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434C7F4-F744-489C-E7E1-A6618A175A51}"/>
              </a:ext>
            </a:extLst>
          </p:cNvPr>
          <p:cNvSpPr txBox="1"/>
          <p:nvPr/>
        </p:nvSpPr>
        <p:spPr>
          <a:xfrm>
            <a:off x="6650181" y="253110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2D3034"/>
                </a:solidFill>
                <a:latin typeface="inter"/>
              </a:rPr>
              <a:t>Exemple:</a:t>
            </a: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Dans le programme A=2</a:t>
            </a:r>
          </a:p>
          <a:p>
            <a:endParaRPr lang="fr-FR" dirty="0">
              <a:solidFill>
                <a:srgbClr val="2D3034"/>
              </a:solidFill>
              <a:latin typeface="inter"/>
            </a:endParaRP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If A &gt;10:</a:t>
            </a: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	</a:t>
            </a:r>
            <a:r>
              <a:rPr lang="fr-FR" dirty="0" err="1">
                <a:solidFill>
                  <a:srgbClr val="2D3034"/>
                </a:solidFill>
                <a:latin typeface="inter"/>
              </a:rPr>
              <a:t>print</a:t>
            </a:r>
            <a:r>
              <a:rPr lang="fr-FR" dirty="0">
                <a:solidFill>
                  <a:srgbClr val="2D3034"/>
                </a:solidFill>
                <a:latin typeface="inter"/>
              </a:rPr>
              <a:t>(‘A supérieur à 10’)</a:t>
            </a:r>
          </a:p>
          <a:p>
            <a:r>
              <a:rPr lang="fr-FR" dirty="0" err="1">
                <a:solidFill>
                  <a:srgbClr val="2D3034"/>
                </a:solidFill>
                <a:latin typeface="inter"/>
              </a:rPr>
              <a:t>else</a:t>
            </a:r>
            <a:r>
              <a:rPr lang="fr-FR" dirty="0">
                <a:solidFill>
                  <a:srgbClr val="2D3034"/>
                </a:solidFill>
                <a:latin typeface="inter"/>
              </a:rPr>
              <a:t>:</a:t>
            </a: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	</a:t>
            </a:r>
            <a:r>
              <a:rPr lang="fr-FR" dirty="0" err="1">
                <a:solidFill>
                  <a:srgbClr val="2D3034"/>
                </a:solidFill>
                <a:latin typeface="inter"/>
              </a:rPr>
              <a:t>print</a:t>
            </a:r>
            <a:r>
              <a:rPr lang="fr-FR" dirty="0">
                <a:solidFill>
                  <a:srgbClr val="2D3034"/>
                </a:solidFill>
                <a:latin typeface="inter"/>
              </a:rPr>
              <a:t> (‘A inférieur à 10’)</a:t>
            </a: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On continue d’exécuter les instructions	qui suivent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C653944-F484-C78B-2769-EFCCA4A547B7}"/>
              </a:ext>
            </a:extLst>
          </p:cNvPr>
          <p:cNvSpPr txBox="1"/>
          <p:nvPr/>
        </p:nvSpPr>
        <p:spPr>
          <a:xfrm>
            <a:off x="2048990" y="3401798"/>
            <a:ext cx="53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test</a:t>
            </a:r>
          </a:p>
        </p:txBody>
      </p: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4DBB6877-1CE3-4477-BE48-8AF65AB42F5B}"/>
              </a:ext>
            </a:extLst>
          </p:cNvPr>
          <p:cNvCxnSpPr>
            <a:stCxn id="4" idx="3"/>
          </p:cNvCxnSpPr>
          <p:nvPr/>
        </p:nvCxnSpPr>
        <p:spPr>
          <a:xfrm>
            <a:off x="3177309" y="3586635"/>
            <a:ext cx="480291" cy="9946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18F64AF7-AC72-34A2-F77C-66206BEDAA66}"/>
              </a:ext>
            </a:extLst>
          </p:cNvPr>
          <p:cNvCxnSpPr>
            <a:cxnSpLocks/>
            <a:stCxn id="4" idx="1"/>
            <a:endCxn id="18" idx="0"/>
          </p:cNvCxnSpPr>
          <p:nvPr/>
        </p:nvCxnSpPr>
        <p:spPr>
          <a:xfrm rot="10800000" flipV="1">
            <a:off x="1062182" y="3586634"/>
            <a:ext cx="397164" cy="9946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E69C709-DC14-3919-FAA0-C4DF1D0D8931}"/>
              </a:ext>
            </a:extLst>
          </p:cNvPr>
          <p:cNvSpPr/>
          <p:nvPr/>
        </p:nvSpPr>
        <p:spPr>
          <a:xfrm>
            <a:off x="3251200" y="4581236"/>
            <a:ext cx="1246909" cy="6557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CBA02AA-35C9-95DF-4CBD-2EF07443BA8B}"/>
              </a:ext>
            </a:extLst>
          </p:cNvPr>
          <p:cNvSpPr txBox="1"/>
          <p:nvPr/>
        </p:nvSpPr>
        <p:spPr>
          <a:xfrm>
            <a:off x="2976772" y="3816189"/>
            <a:ext cx="1361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 test est ok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2EB94A6-F081-F441-2947-D4427596569D}"/>
              </a:ext>
            </a:extLst>
          </p:cNvPr>
          <p:cNvSpPr txBox="1"/>
          <p:nvPr/>
        </p:nvSpPr>
        <p:spPr>
          <a:xfrm>
            <a:off x="52225" y="3875009"/>
            <a:ext cx="15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 test est Nok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CB03519-D79E-9B56-B4FF-1074A880CCA8}"/>
              </a:ext>
            </a:extLst>
          </p:cNvPr>
          <p:cNvSpPr/>
          <p:nvPr/>
        </p:nvSpPr>
        <p:spPr>
          <a:xfrm>
            <a:off x="438727" y="4581236"/>
            <a:ext cx="1246909" cy="6557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9F32502-9E5C-15D7-D32C-764947C4DF44}"/>
              </a:ext>
            </a:extLst>
          </p:cNvPr>
          <p:cNvSpPr txBox="1"/>
          <p:nvPr/>
        </p:nvSpPr>
        <p:spPr>
          <a:xfrm>
            <a:off x="3263156" y="4700124"/>
            <a:ext cx="123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fait ceci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2875FE4-BF5E-818A-7ABF-78DD23636497}"/>
              </a:ext>
            </a:extLst>
          </p:cNvPr>
          <p:cNvSpPr txBox="1"/>
          <p:nvPr/>
        </p:nvSpPr>
        <p:spPr>
          <a:xfrm>
            <a:off x="385044" y="4700124"/>
            <a:ext cx="124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fait cela</a:t>
            </a:r>
          </a:p>
        </p:txBody>
      </p:sp>
      <p:cxnSp>
        <p:nvCxnSpPr>
          <p:cNvPr id="23" name="Connecteur : en angle 22">
            <a:extLst>
              <a:ext uri="{FF2B5EF4-FFF2-40B4-BE49-F238E27FC236}">
                <a16:creationId xmlns:a16="http://schemas.microsoft.com/office/drawing/2014/main" id="{AFC4AAA5-9DAD-BFAC-398F-36182D9E90FF}"/>
              </a:ext>
            </a:extLst>
          </p:cNvPr>
          <p:cNvCxnSpPr>
            <a:stCxn id="18" idx="2"/>
          </p:cNvCxnSpPr>
          <p:nvPr/>
        </p:nvCxnSpPr>
        <p:spPr>
          <a:xfrm rot="16200000" flipH="1">
            <a:off x="1399309" y="4899890"/>
            <a:ext cx="471055" cy="11453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99587859-0E3E-8C32-1E01-D2358316DA0C}"/>
              </a:ext>
            </a:extLst>
          </p:cNvPr>
          <p:cNvCxnSpPr>
            <a:stCxn id="15" idx="2"/>
          </p:cNvCxnSpPr>
          <p:nvPr/>
        </p:nvCxnSpPr>
        <p:spPr>
          <a:xfrm rot="5400000">
            <a:off x="2814468" y="4648515"/>
            <a:ext cx="471685" cy="16486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44494800-F108-9700-D2AD-493E99A2E931}"/>
              </a:ext>
            </a:extLst>
          </p:cNvPr>
          <p:cNvCxnSpPr>
            <a:cxnSpLocks/>
          </p:cNvCxnSpPr>
          <p:nvPr/>
        </p:nvCxnSpPr>
        <p:spPr>
          <a:xfrm>
            <a:off x="2322946" y="3003370"/>
            <a:ext cx="0" cy="265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F91FA068-79FA-50D6-00DF-3B40C75390C9}"/>
              </a:ext>
            </a:extLst>
          </p:cNvPr>
          <p:cNvSpPr txBox="1"/>
          <p:nvPr/>
        </p:nvSpPr>
        <p:spPr>
          <a:xfrm>
            <a:off x="838204" y="5936287"/>
            <a:ext cx="359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continue la suite des instructions</a:t>
            </a:r>
          </a:p>
        </p:txBody>
      </p:sp>
    </p:spTree>
    <p:extLst>
      <p:ext uri="{BB962C8B-B14F-4D97-AF65-F5344CB8AC3E}">
        <p14:creationId xmlns:p14="http://schemas.microsoft.com/office/powerpoint/2010/main" val="56635644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BB28C3-2C9F-12EC-3EE6-F12914015FEA}"/>
              </a:ext>
            </a:extLst>
          </p:cNvPr>
          <p:cNvSpPr txBox="1"/>
          <p:nvPr/>
        </p:nvSpPr>
        <p:spPr>
          <a:xfrm>
            <a:off x="838203" y="365129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70C0"/>
                </a:solidFill>
                <a:uFillTx/>
                <a:latin typeface="Calibri Light"/>
              </a:rPr>
              <a:t>GI6 Les fonctions du module PWM</a:t>
            </a:r>
          </a:p>
        </p:txBody>
      </p:sp>
      <p:sp>
        <p:nvSpPr>
          <p:cNvPr id="3" name="ZoneTexte 3">
            <a:extLst>
              <a:ext uri="{FF2B5EF4-FFF2-40B4-BE49-F238E27FC236}">
                <a16:creationId xmlns:a16="http://schemas.microsoft.com/office/drawing/2014/main" id="{C879C33B-815B-1F9A-8F8F-5C4146D1929F}"/>
              </a:ext>
            </a:extLst>
          </p:cNvPr>
          <p:cNvSpPr txBox="1"/>
          <p:nvPr/>
        </p:nvSpPr>
        <p:spPr>
          <a:xfrm>
            <a:off x="838203" y="1186936"/>
            <a:ext cx="10679542" cy="39703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Fonctions utilisées: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servoPinPan</a:t>
            </a:r>
            <a:r>
              <a:rPr lang="en-US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= PWM(Pin(16))           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#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servoPinPan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est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un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objet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,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initialise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le Pin GPIO 16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en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sortie PWM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servoPinPan.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freq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(50)</a:t>
            </a:r>
            <a:r>
              <a:rPr lang="en-US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                           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#</a:t>
            </a:r>
            <a:r>
              <a:rPr lang="en-US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Initialise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la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fréquence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des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signaux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carrés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à 50Hz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soit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20ms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servoPinPan</a:t>
            </a:r>
            <a:r>
              <a:rPr lang="en-US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.duty_u16(int(</a:t>
            </a:r>
            <a:r>
              <a:rPr lang="en-US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newDuty</a:t>
            </a:r>
            <a:r>
              <a:rPr lang="en-US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))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 # duty_u16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est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le rapport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cyclique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entre le temps du signal carré haut sur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sa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période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, new duty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est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une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variable, le max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est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à 65535.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servoPinPan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.deinit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()                             </a:t>
            </a: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# réinitialise le PWM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servoX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.duty_ns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(</a:t>
            </a:r>
            <a:r>
              <a:rPr lang="fr-FR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pulseDX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)  #commande le rapport cyclique du PWM en nanosecondes suivant la variable  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pulseDX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de l’objet 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servoX</a:t>
            </a:r>
            <a:endParaRPr lang="fr-FR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2">
            <a:extLst>
              <a:ext uri="{FF2B5EF4-FFF2-40B4-BE49-F238E27FC236}">
                <a16:creationId xmlns:a16="http://schemas.microsoft.com/office/drawing/2014/main" id="{E5D3F347-AC14-1B27-0900-21CB72D383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8203" y="1114827"/>
            <a:ext cx="1772655" cy="64312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DDBC5B9-49D5-06BE-D511-2656C80D773F}"/>
              </a:ext>
            </a:extLst>
          </p:cNvPr>
          <p:cNvSpPr txBox="1"/>
          <p:nvPr/>
        </p:nvSpPr>
        <p:spPr>
          <a:xfrm>
            <a:off x="2610858" y="1353869"/>
            <a:ext cx="248696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Symbole de la diode LED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56450AA5-441E-C9CD-6B9D-0A1056921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594" y="1862577"/>
            <a:ext cx="719139" cy="10048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ZoneTexte 6">
            <a:extLst>
              <a:ext uri="{FF2B5EF4-FFF2-40B4-BE49-F238E27FC236}">
                <a16:creationId xmlns:a16="http://schemas.microsoft.com/office/drawing/2014/main" id="{750AC36D-4D7F-6563-E43F-ACA1492057EB}"/>
              </a:ext>
            </a:extLst>
          </p:cNvPr>
          <p:cNvSpPr txBox="1"/>
          <p:nvPr/>
        </p:nvSpPr>
        <p:spPr>
          <a:xfrm>
            <a:off x="2348608" y="2101620"/>
            <a:ext cx="52449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Pile</a:t>
            </a:r>
          </a:p>
        </p:txBody>
      </p:sp>
      <p:pic>
        <p:nvPicPr>
          <p:cNvPr id="6" name="Image 8">
            <a:extLst>
              <a:ext uri="{FF2B5EF4-FFF2-40B4-BE49-F238E27FC236}">
                <a16:creationId xmlns:a16="http://schemas.microsoft.com/office/drawing/2014/main" id="{233D393A-9F97-AF0F-0876-A6E9A644A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052" y="2972101"/>
            <a:ext cx="732672" cy="3681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ZoneTexte 9">
            <a:extLst>
              <a:ext uri="{FF2B5EF4-FFF2-40B4-BE49-F238E27FC236}">
                <a16:creationId xmlns:a16="http://schemas.microsoft.com/office/drawing/2014/main" id="{409E4B4F-FB52-1EAB-8048-9DB4F369C84C}"/>
              </a:ext>
            </a:extLst>
          </p:cNvPr>
          <p:cNvSpPr txBox="1"/>
          <p:nvPr/>
        </p:nvSpPr>
        <p:spPr>
          <a:xfrm>
            <a:off x="2348608" y="2887885"/>
            <a:ext cx="122963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Résistance</a:t>
            </a:r>
          </a:p>
        </p:txBody>
      </p:sp>
      <p:pic>
        <p:nvPicPr>
          <p:cNvPr id="8" name="Image 11">
            <a:extLst>
              <a:ext uri="{FF2B5EF4-FFF2-40B4-BE49-F238E27FC236}">
                <a16:creationId xmlns:a16="http://schemas.microsoft.com/office/drawing/2014/main" id="{6D22C02B-D553-A011-06F1-AE16BCE46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709" y="3607911"/>
            <a:ext cx="982074" cy="26500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ZoneTexte 12">
            <a:extLst>
              <a:ext uri="{FF2B5EF4-FFF2-40B4-BE49-F238E27FC236}">
                <a16:creationId xmlns:a16="http://schemas.microsoft.com/office/drawing/2014/main" id="{D01BE1C0-38F2-DB60-CB0F-6DD390E72F06}"/>
              </a:ext>
            </a:extLst>
          </p:cNvPr>
          <p:cNvSpPr txBox="1"/>
          <p:nvPr/>
        </p:nvSpPr>
        <p:spPr>
          <a:xfrm>
            <a:off x="2271534" y="3555754"/>
            <a:ext cx="42832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BP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3A89C0E-944C-2474-C081-B168B442E212}"/>
              </a:ext>
            </a:extLst>
          </p:cNvPr>
          <p:cNvSpPr txBox="1"/>
          <p:nvPr/>
        </p:nvSpPr>
        <p:spPr>
          <a:xfrm>
            <a:off x="465542" y="117207"/>
            <a:ext cx="10515600" cy="6450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0" cap="none" spc="0" baseline="0" dirty="0">
                <a:solidFill>
                  <a:srgbClr val="000000"/>
                </a:solidFill>
                <a:uFillTx/>
                <a:latin typeface="Calibri Light"/>
              </a:rPr>
              <a:t>GE1 </a:t>
            </a:r>
            <a:r>
              <a:rPr lang="fr-FR" sz="4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Glossaire électronique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3FCE0D5A-7B82-50FB-F5EB-3F2BDF60AB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010" y="4038337"/>
            <a:ext cx="1847846" cy="19431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ZoneTexte 14">
            <a:extLst>
              <a:ext uri="{FF2B5EF4-FFF2-40B4-BE49-F238E27FC236}">
                <a16:creationId xmlns:a16="http://schemas.microsoft.com/office/drawing/2014/main" id="{7C2CA09E-D623-81E4-F921-241A3E0FE464}"/>
              </a:ext>
            </a:extLst>
          </p:cNvPr>
          <p:cNvSpPr txBox="1"/>
          <p:nvPr/>
        </p:nvSpPr>
        <p:spPr>
          <a:xfrm>
            <a:off x="849930" y="5930952"/>
            <a:ext cx="277210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Schéma électrique du relais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5AC77152-8798-8BA6-2AE7-A1510043842A}"/>
              </a:ext>
            </a:extLst>
          </p:cNvPr>
          <p:cNvGrpSpPr/>
          <p:nvPr/>
        </p:nvGrpSpPr>
        <p:grpSpPr>
          <a:xfrm>
            <a:off x="3686068" y="3309948"/>
            <a:ext cx="403700" cy="959981"/>
            <a:chOff x="7561006" y="3740412"/>
            <a:chExt cx="403700" cy="959981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37733456-9875-175B-D2DA-18928D9E0993}"/>
                </a:ext>
              </a:extLst>
            </p:cNvPr>
            <p:cNvCxnSpPr/>
            <p:nvPr/>
          </p:nvCxnSpPr>
          <p:spPr>
            <a:xfrm>
              <a:off x="7561006" y="4149213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11C64558-B587-08CA-C6FB-6EA3758FFBB9}"/>
                </a:ext>
              </a:extLst>
            </p:cNvPr>
            <p:cNvCxnSpPr/>
            <p:nvPr/>
          </p:nvCxnSpPr>
          <p:spPr>
            <a:xfrm>
              <a:off x="7565926" y="4301613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6C4D4C5A-7C34-EA32-8BEE-6B421EF1C17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561006" y="3939802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3F15D13A-8D2E-40A4-2F17-6583D2408B5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558838" y="4501003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30FD0C72-4BCA-D547-7139-9471311CB3AF}"/>
              </a:ext>
            </a:extLst>
          </p:cNvPr>
          <p:cNvSpPr txBox="1"/>
          <p:nvPr/>
        </p:nvSpPr>
        <p:spPr>
          <a:xfrm>
            <a:off x="4308529" y="3607865"/>
            <a:ext cx="1726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Condensateur</a:t>
            </a:r>
          </a:p>
          <a:p>
            <a:r>
              <a:rPr lang="fr-FR" dirty="0"/>
              <a:t>de filtrage signal</a:t>
            </a: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B37FDF47-5B46-8EB3-6581-7B9B0CE3299A}"/>
              </a:ext>
            </a:extLst>
          </p:cNvPr>
          <p:cNvGrpSpPr/>
          <p:nvPr/>
        </p:nvGrpSpPr>
        <p:grpSpPr>
          <a:xfrm>
            <a:off x="3592654" y="4546611"/>
            <a:ext cx="701416" cy="959981"/>
            <a:chOff x="6507235" y="4792417"/>
            <a:chExt cx="701416" cy="959981"/>
          </a:xfrm>
        </p:grpSpPr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E3B7E44E-1A2A-08CE-95D4-D0ECC856F7EF}"/>
                </a:ext>
              </a:extLst>
            </p:cNvPr>
            <p:cNvCxnSpPr>
              <a:cxnSpLocks/>
            </p:cNvCxnSpPr>
            <p:nvPr/>
          </p:nvCxnSpPr>
          <p:spPr>
            <a:xfrm>
              <a:off x="6646496" y="5201218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F0C40E45-1EE8-A1C7-DA51-69DB5C123933}"/>
                </a:ext>
              </a:extLst>
            </p:cNvPr>
            <p:cNvCxnSpPr>
              <a:cxnSpLocks/>
            </p:cNvCxnSpPr>
            <p:nvPr/>
          </p:nvCxnSpPr>
          <p:spPr>
            <a:xfrm>
              <a:off x="6512626" y="5353618"/>
              <a:ext cx="69602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AB3FB558-0781-E820-7DD1-899B439A50FB}"/>
                </a:ext>
              </a:extLst>
            </p:cNvPr>
            <p:cNvCxnSpPr>
              <a:cxnSpLocks/>
            </p:cNvCxnSpPr>
            <p:nvPr/>
          </p:nvCxnSpPr>
          <p:spPr>
            <a:xfrm>
              <a:off x="6845886" y="4792417"/>
              <a:ext cx="0" cy="39878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17584F2D-CED1-B755-0395-8C5BDF2288A1}"/>
                </a:ext>
              </a:extLst>
            </p:cNvPr>
            <p:cNvCxnSpPr>
              <a:cxnSpLocks/>
            </p:cNvCxnSpPr>
            <p:nvPr/>
          </p:nvCxnSpPr>
          <p:spPr>
            <a:xfrm>
              <a:off x="6843718" y="5353618"/>
              <a:ext cx="0" cy="39878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67990CB1-4962-A9C4-6641-C67ED40350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4537" y="5201218"/>
              <a:ext cx="3311" cy="1524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DDE33556-271F-72E6-71EF-690EE074D0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7235" y="5201218"/>
              <a:ext cx="3311" cy="1524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ZoneTexte 38">
            <a:extLst>
              <a:ext uri="{FF2B5EF4-FFF2-40B4-BE49-F238E27FC236}">
                <a16:creationId xmlns:a16="http://schemas.microsoft.com/office/drawing/2014/main" id="{B85BB27B-2170-FA6A-D8BD-70A8D940F1D3}"/>
              </a:ext>
            </a:extLst>
          </p:cNvPr>
          <p:cNvSpPr txBox="1"/>
          <p:nvPr/>
        </p:nvSpPr>
        <p:spPr>
          <a:xfrm>
            <a:off x="4318246" y="4770746"/>
            <a:ext cx="2810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Condensateur</a:t>
            </a:r>
          </a:p>
          <a:p>
            <a:r>
              <a:rPr lang="fr-FR" dirty="0"/>
              <a:t>Chimique, réserve d’énergie</a:t>
            </a: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85DC9340-6FC1-26FB-07BE-E0482B41E8CF}"/>
              </a:ext>
            </a:extLst>
          </p:cNvPr>
          <p:cNvGrpSpPr/>
          <p:nvPr/>
        </p:nvGrpSpPr>
        <p:grpSpPr>
          <a:xfrm>
            <a:off x="7763956" y="3578121"/>
            <a:ext cx="3576034" cy="2385249"/>
            <a:chOff x="7568565" y="3233002"/>
            <a:chExt cx="3576034" cy="2385249"/>
          </a:xfrm>
        </p:grpSpPr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7C06CC37-A7EC-CF5D-8A5A-F5A3FA4F7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62741" y="4066549"/>
              <a:ext cx="2157725" cy="1506012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7AC23FF-9064-3FFA-EF0D-700072CB8C01}"/>
                </a:ext>
              </a:extLst>
            </p:cNvPr>
            <p:cNvSpPr/>
            <p:nvPr/>
          </p:nvSpPr>
          <p:spPr>
            <a:xfrm>
              <a:off x="8480497" y="3233002"/>
              <a:ext cx="334297" cy="7130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Flèche : bas 43">
              <a:extLst>
                <a:ext uri="{FF2B5EF4-FFF2-40B4-BE49-F238E27FC236}">
                  <a16:creationId xmlns:a16="http://schemas.microsoft.com/office/drawing/2014/main" id="{1FC4385D-3BDF-67F1-8E23-B5E904818CDD}"/>
                </a:ext>
              </a:extLst>
            </p:cNvPr>
            <p:cNvSpPr/>
            <p:nvPr/>
          </p:nvSpPr>
          <p:spPr>
            <a:xfrm>
              <a:off x="8578822" y="3980752"/>
              <a:ext cx="147484" cy="50346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35851E57-5FB7-C7A4-6685-106308B883B9}"/>
                </a:ext>
              </a:extLst>
            </p:cNvPr>
            <p:cNvSpPr txBox="1"/>
            <p:nvPr/>
          </p:nvSpPr>
          <p:spPr>
            <a:xfrm>
              <a:off x="7568565" y="5310474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E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8B28FB5E-ED93-0761-E2EC-BFF525CA9EDD}"/>
                </a:ext>
              </a:extLst>
            </p:cNvPr>
            <p:cNvSpPr txBox="1"/>
            <p:nvPr/>
          </p:nvSpPr>
          <p:spPr>
            <a:xfrm>
              <a:off x="8814794" y="3257220"/>
              <a:ext cx="23298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Pièce qui vient couper</a:t>
              </a:r>
            </a:p>
            <a:p>
              <a:r>
                <a:rPr lang="fr-FR" dirty="0"/>
                <a:t>le faisceau lumineux IR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5FB4213-2A16-EC09-BE68-1843E2B27DB5}"/>
                </a:ext>
              </a:extLst>
            </p:cNvPr>
            <p:cNvSpPr/>
            <p:nvPr/>
          </p:nvSpPr>
          <p:spPr>
            <a:xfrm>
              <a:off x="7870893" y="4199990"/>
              <a:ext cx="545519" cy="712905"/>
            </a:xfrm>
            <a:prstGeom prst="rect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DDCA533-2AE7-DDC5-DB63-C822BC7AAA7D}"/>
                </a:ext>
              </a:extLst>
            </p:cNvPr>
            <p:cNvSpPr/>
            <p:nvPr/>
          </p:nvSpPr>
          <p:spPr>
            <a:xfrm>
              <a:off x="8927871" y="4214739"/>
              <a:ext cx="545519" cy="712905"/>
            </a:xfrm>
            <a:prstGeom prst="rect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04D9E554-F4B9-C87A-F824-4B53CA2866F2}"/>
              </a:ext>
            </a:extLst>
          </p:cNvPr>
          <p:cNvGrpSpPr/>
          <p:nvPr/>
        </p:nvGrpSpPr>
        <p:grpSpPr>
          <a:xfrm>
            <a:off x="4959280" y="1114827"/>
            <a:ext cx="2509341" cy="2026063"/>
            <a:chOff x="6188313" y="864821"/>
            <a:chExt cx="2509341" cy="2026063"/>
          </a:xfrm>
        </p:grpSpPr>
        <p:pic>
          <p:nvPicPr>
            <p:cNvPr id="17" name="Image 17">
              <a:extLst>
                <a:ext uri="{FF2B5EF4-FFF2-40B4-BE49-F238E27FC236}">
                  <a16:creationId xmlns:a16="http://schemas.microsoft.com/office/drawing/2014/main" id="{62E76CB5-E3F2-A95D-CDC2-A22F156C2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88313" y="864821"/>
              <a:ext cx="2314574" cy="1678399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68E6D5FF-430E-94FB-E20F-900B4C0ECCA8}"/>
                </a:ext>
              </a:extLst>
            </p:cNvPr>
            <p:cNvSpPr txBox="1"/>
            <p:nvPr/>
          </p:nvSpPr>
          <p:spPr>
            <a:xfrm>
              <a:off x="6188313" y="2521552"/>
              <a:ext cx="25093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Vpotar</a:t>
              </a:r>
              <a:r>
                <a:rPr lang="fr-FR" dirty="0"/>
                <a:t>=</a:t>
              </a:r>
              <a:r>
                <a:rPr lang="fr-FR" dirty="0" err="1"/>
                <a:t>Vpile</a:t>
              </a:r>
              <a:r>
                <a:rPr lang="fr-FR" dirty="0"/>
                <a:t>* r2/(r1+r2)</a:t>
              </a:r>
            </a:p>
          </p:txBody>
        </p:sp>
      </p:grpSp>
      <p:pic>
        <p:nvPicPr>
          <p:cNvPr id="53" name="Image 52">
            <a:extLst>
              <a:ext uri="{FF2B5EF4-FFF2-40B4-BE49-F238E27FC236}">
                <a16:creationId xmlns:a16="http://schemas.microsoft.com/office/drawing/2014/main" id="{1CE9A7C9-9C7A-EAEF-2EE6-684A2FDF5B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6284" y="1172250"/>
            <a:ext cx="3410426" cy="196242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5328</TotalTime>
  <Words>2459</Words>
  <Application>Microsoft Office PowerPoint</Application>
  <PresentationFormat>Grand écran</PresentationFormat>
  <Paragraphs>287</Paragraphs>
  <Slides>20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inter</vt:lpstr>
      <vt:lpstr>Tahoma</vt:lpstr>
      <vt:lpstr>Thème Office</vt:lpstr>
      <vt:lpstr>Atelier Raspi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Raspi</dc:title>
  <dc:creator>Phil</dc:creator>
  <cp:lastModifiedBy>PE</cp:lastModifiedBy>
  <cp:revision>38</cp:revision>
  <cp:lastPrinted>2023-09-14T16:45:55Z</cp:lastPrinted>
  <dcterms:created xsi:type="dcterms:W3CDTF">2023-09-14T15:48:25Z</dcterms:created>
  <dcterms:modified xsi:type="dcterms:W3CDTF">2025-09-15T13:12:33Z</dcterms:modified>
</cp:coreProperties>
</file>