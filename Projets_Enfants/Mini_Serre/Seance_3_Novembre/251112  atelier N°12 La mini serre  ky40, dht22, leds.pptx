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3" r:id="rId2"/>
    <p:sldId id="256" r:id="rId3"/>
    <p:sldId id="307" r:id="rId4"/>
    <p:sldId id="308" r:id="rId5"/>
    <p:sldId id="309" r:id="rId6"/>
    <p:sldId id="310" r:id="rId7"/>
    <p:sldId id="305" r:id="rId8"/>
    <p:sldId id="264" r:id="rId9"/>
    <p:sldId id="265" r:id="rId10"/>
    <p:sldId id="266" r:id="rId11"/>
    <p:sldId id="314" r:id="rId12"/>
    <p:sldId id="296" r:id="rId13"/>
    <p:sldId id="298" r:id="rId14"/>
    <p:sldId id="297" r:id="rId15"/>
    <p:sldId id="299" r:id="rId16"/>
    <p:sldId id="306" r:id="rId17"/>
    <p:sldId id="311" r:id="rId18"/>
    <p:sldId id="274" r:id="rId19"/>
    <p:sldId id="269" r:id="rId20"/>
    <p:sldId id="268" r:id="rId21"/>
    <p:sldId id="277" r:id="rId22"/>
    <p:sldId id="284" r:id="rId23"/>
    <p:sldId id="267" r:id="rId24"/>
    <p:sldId id="273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3743" autoAdjust="0"/>
  </p:normalViewPr>
  <p:slideViewPr>
    <p:cSldViewPr snapToGrid="0">
      <p:cViewPr varScale="1">
        <p:scale>
          <a:sx n="103" d="100"/>
          <a:sy n="103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C4D1B-67B6-4617-877A-28FB0448BB9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504B7-51B3-487D-A210-D192D4F5AF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779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DB05947C-5142-E656-2FE5-1FD84F052D0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86262C01-2B27-481D-A1A9-E59637E112BE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DF88EB-0485-E845-9D02-C25F991C0E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7F07320-737E-4D2C-9C21-940A5C0A0171}" type="slidenum">
              <a:t>7</a:t>
            </a:fld>
            <a:endParaRPr lang="fr-FR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C78F5DE7-FB63-99DA-D97E-EBC75F6AC42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24850AA0-304D-4F14-9F96-CEBFAF66F2C5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A12DF48-2F6D-A3F7-C1CC-1CB43E9D65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BE5AC7AE-074A-4B3C-AF0B-5136C8EF1F0B}" type="slidenum">
              <a:t>7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D1968D09-146F-E36E-F1F8-F5966E06D7B9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91BA03D4-A765-4755-B2CE-79224C76A2BC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00A65A56-A0AB-0176-5D1E-C5BC393898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3A7DC43E-6D5E-4541-B4B9-7DB3068AFA70}" type="slidenum">
              <a:t>7</a:t>
            </a:fld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4A748F17-EA16-ACC5-0620-5D2ABA7D4184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1AD339E-881B-415D-92A1-F410B7DCD061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D43EC77E-B1B1-4398-C3C5-883C0735F4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61164301-82F1-4A50-9411-704EF7636280}" type="slidenum">
              <a:t>7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848777-606E-C173-EDE5-CE0E86FC85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CA7CC5BC-A3D3-EE6E-4C8D-7A24D48214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lIns="0" tIns="0" rIns="0" bIns="0"/>
          <a:lstStyle/>
          <a:p>
            <a:pPr indent="-216000" hangingPunct="0"/>
            <a:endParaRPr lang="fr-FR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D3A9E922-4053-BD8F-A424-17DC7EC161D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86262C01-2B27-481D-A1A9-E59637E112BE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838E48-225B-82CE-830A-5CC8265CFE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08D7746-CC4F-4466-B829-66B44BDDE80D}" type="slidenum">
              <a:t>8</a:t>
            </a:fld>
            <a:endParaRPr lang="fr-FR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FD50E6C5-35F6-48C3-3940-A583D59EC66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24850AA0-304D-4F14-9F96-CEBFAF66F2C5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D0821CE-380E-FBCD-4ACA-94167A563B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27108F4-E047-4E67-AC89-F17B2B142BD1}" type="slidenum">
              <a:t>8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871BC224-74BA-65D0-CD77-17E8A9995DA9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91BA03D4-A765-4755-B2CE-79224C76A2BC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822D727D-D3D4-DDE5-9DBA-166FB83EEF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4C7AC21C-8FBD-4803-8F73-A7A0D05FE0FC}" type="slidenum">
              <a:t>8</a:t>
            </a:fld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9D1E649E-D777-A234-4307-1B04D2D13F64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1AD339E-881B-415D-92A1-F410B7DCD061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99CBD2E9-2DDC-8146-B76B-6A53F4A02A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CB2D9354-5D15-4739-8C9C-DCE054A77E07}" type="slidenum">
              <a:t>8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BA68D46-6226-663C-B64D-2E64E625EFE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4D869CC9-DD27-1535-42C1-5444231764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811040"/>
          </a:xfrm>
        </p:spPr>
        <p:txBody>
          <a:bodyPr lIns="0" tIns="0" rIns="0" bIns="0"/>
          <a:lstStyle/>
          <a:p>
            <a:pPr indent="-216000" hangingPunct="0"/>
            <a:endParaRPr lang="fr-FR" sz="2000">
              <a:latin typeface="Liberation Sans" pitchFamily="18"/>
              <a:cs typeface="Arial" pitchFamily="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77B506AE-0059-1A4E-8DE5-F850992F788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86262C01-2B27-481D-A1A9-E59637E112BE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01D812-ECA6-A41A-2D42-50D29C2086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2CDA15A-B542-4C90-A1EA-3BE75224EB10}" type="slidenum">
              <a:t>9</a:t>
            </a:fld>
            <a:endParaRPr lang="fr-FR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D1F1751C-1CBF-AE4A-D995-051E078DAA26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24850AA0-304D-4F14-9F96-CEBFAF66F2C5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7FCBB1A7-37B4-F4EC-63B3-C4B3DFEF6B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E63F026C-8F48-4C90-BA87-3E6209CCCF23}" type="slidenum">
              <a:t>9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B2BF476C-E08A-0219-0274-DFB394765320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91BA03D4-A765-4755-B2CE-79224C76A2BC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5BEA23A6-A90E-9AFD-A4FE-6C6235E32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9EDA069-BF06-4CEC-B9FF-F8B6CFA7C4AE}" type="slidenum">
              <a:t>9</a:t>
            </a:fld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C300AE17-26B9-8770-8118-04A8D3A32DF6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1AD339E-881B-415D-92A1-F410B7DCD061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98F6B5FC-8581-DCCC-C015-21900D28A0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E730CF9-9E3F-457F-A713-495D332943B9}" type="slidenum">
              <a:t>9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331CCAF-8675-44F9-A0D5-DEDA21838AE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5EC833CC-37FC-0241-0B74-47FF15BFCF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lIns="0" tIns="0" rIns="0" bIns="0"/>
          <a:lstStyle/>
          <a:p>
            <a:pPr indent="-216000" hangingPunct="0"/>
            <a:endParaRPr lang="fr-FR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2">
            <a:extLst>
              <a:ext uri="{FF2B5EF4-FFF2-40B4-BE49-F238E27FC236}">
                <a16:creationId xmlns:a16="http://schemas.microsoft.com/office/drawing/2014/main" id="{AA5BE4A0-6063-E3F3-31B2-8B09A21191D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86262C01-2B27-481D-A1A9-E59637E112BE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38FFCA-1481-82C5-4730-F1BB088B91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BD3EDF55-E4FA-4338-AF2B-4A19328D9D06}" type="slidenum">
              <a:t>10</a:t>
            </a:fld>
            <a:endParaRPr lang="fr-FR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9D1C844D-13AC-93E3-3135-CA6159B1CE4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24850AA0-304D-4F14-9F96-CEBFAF66F2C5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A9177A3E-074F-643D-FC36-17498760FC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E9E52CA-6FA0-49AC-AA3A-8A5C712DC85E}" type="slidenum">
              <a:t>10</a:t>
            </a:fld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CB6C9284-0756-11E9-D1EC-AF2CA56C7B0A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91BA03D4-A765-4755-B2CE-79224C76A2BC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3F339A5E-3774-9746-8D90-D96AF79DBF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5741EBE-76BF-461F-97C2-9F8EAE2406CC}" type="slidenum">
              <a:t>10</a:t>
            </a:fld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B3586581-61F1-1F42-5615-15F2A67C3747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1AD339E-881B-415D-92A1-F410B7DCD061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631B6875-DAEC-478A-7008-EB86EB820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D982A0D-E8A8-414B-B17E-3EBD2DFAA6F0}" type="slidenum">
              <a:t>10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F66DDD-F8B6-D1B5-5451-C0272187D4A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 2">
            <a:extLst>
              <a:ext uri="{FF2B5EF4-FFF2-40B4-BE49-F238E27FC236}">
                <a16:creationId xmlns:a16="http://schemas.microsoft.com/office/drawing/2014/main" id="{2DA60AAC-BBFF-3FBD-A3D2-3142558513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lIns="0" tIns="0" rIns="0" bIns="0"/>
          <a:lstStyle/>
          <a:p>
            <a:pPr indent="-216000" hangingPunct="0"/>
            <a:endParaRPr lang="fr-FR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FDF7B-FC51-374F-A046-F3D0753527C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F5054E-9937-062E-3113-D4EEDEA198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6F3720-8B61-3693-9BC8-26E877FD34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2C6BD5-4425-4531-B60B-32320A2A9DFA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748C7B-D668-A632-90C7-F8F6182132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DF81A6-5379-65F7-D3EC-1DB464BCA0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08B8E3-F622-4D26-A4D3-ADE0D17C5A99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70448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2419B-1D6E-042F-350F-0314B25C7A9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9DD74C-1FB3-4C82-FDF3-D0E673E66B0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DFB39-30A1-7DA9-519F-003BB20A0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DFC441-362E-4F6C-94D7-0ED1107A43EA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ED3D49-4DC8-E11B-C6DA-44D714EC43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7EE7E1-E0A4-2048-2EF5-7CB3317F30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4736F0-A7F6-4D51-8B9A-7F73CE82FB1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0538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14E27-1005-71EF-30E5-A22614576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4071DF-5753-7985-39DC-F4A9A23D1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3342D5-21F6-994E-A29C-E545E1CB33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162040B-5821-4CE2-924D-43A93286203E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39F860-1AB6-91FF-2A3F-AC78D7A4F0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008D9F-A8B1-AB6F-08C5-D50EA73BB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394A80-2025-4316-9C7A-3F1BA192EB8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33007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7D5EB-3855-5585-81B6-954A09ECD8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A81769-4F95-36A8-DA7A-445CE2BB67B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C44BB4-F8D9-6497-C91E-FCFC2444069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98A47F-52DE-DA2E-7065-1B68BEF1AD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69360B-ADD2-405E-9B66-D6D3FFEC6FCC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9AFDEF-BC59-1695-E97E-AEE078FD354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957D18-531D-5F4B-F526-6B1E2FEB4F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7640E5-5282-4D7F-87E8-6E47703620B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03897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745E8-4635-0463-AF84-0825B525C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165139-9C3D-3D64-291E-D92212728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27C90E-E2E5-49F6-37A3-F96A563AA6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61DAF0-1ED4-5B62-54B8-172CEB3EFF6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27D697-B397-5784-5EE5-5ABCB9BD93A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734C4D-E0EE-67F7-C48A-FD8DF568AC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3B17CE-CB04-4037-A338-A4BE5B564EC0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C7DCC3F-90C2-2687-F58B-2FABBCE9A0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598D8D-C9B1-1DBA-AC16-291F3C9D33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C15535-3D1B-49B4-BCFC-98B10E29323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193032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FF046E-7D67-C733-73D9-3ED07227F0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250556-E65C-C5C2-87AE-D9FFE86AF5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D54BDA-E580-4F21-93AD-0200AACEE55D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3C9A60-449F-30E3-0393-4AF8E373E45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72BF95-A9F3-1EFF-DC36-583C59ED39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7D4371-B151-49BD-BF8A-F49E9475455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93875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BB5D513-B66C-DC13-7C4D-2B9C6D4B3F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0D5DE5-A448-407F-8247-DC12733916DD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60D9B5-45E1-DD59-0899-2CE6C4CABF1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9EAE9F-73D0-0B5A-F763-2413162BAC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95177D-ED57-4E70-BAEE-46FE64F2891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76091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2225DA-08BD-2687-17F3-454E20A5D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5334D0-9656-2511-057B-D748CFBBC0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385A6D-586C-133B-7F30-C9B0705090C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9EB997-0C66-714B-1BAB-CB1C428D0B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B9812B-0E3F-49FE-BBA9-9108E1E18EC4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14300E-E669-C29D-D06F-EC740BBC0AF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D0C369-C068-18D0-7FFB-E752A7145B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9DAEC7-4923-4DDF-9DC0-DED51D4D358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2400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00A29-88A9-5846-14BE-4CA4A3626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27F5A3-94F0-0424-4140-6B0753B6ED7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5E491F-4119-4607-415B-B262168108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250D1D-118C-C302-4D2D-F19497F005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D04F48-B0A4-46DC-B2E3-732EABB5098B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043483-E728-759B-3E37-05214AA116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CF76E7-506D-09A4-FD45-65F6AE58A4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81ABD3-C99F-4726-AB49-3CABE848D70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30595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B104D-1D3F-58E3-337A-DA4C229C70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8D66D4-5CA3-F306-D09F-67C57940CE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9ECE2-EA31-32D1-06AC-4C0687913C1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EE20CA-66C1-48CC-8E58-FA87E480A6C8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6ECED5-D491-3207-05D6-49E6273B6D1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A5E79-75C5-DF4B-3C9A-829DF8B131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B1EC00-19FB-4B6A-B9B7-18361B8F2F57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7191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01BF64-0319-EE63-2968-3A85CEF1CC33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D7032D-2B1E-230E-7D83-8DAAAB1D2C9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8B6A96-CF20-3C28-84F1-FDA7A1DB58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D35BA9-C777-46B6-AD0A-A185BB75FAD5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0FF97C-409C-9976-BEBA-0CC600A15F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EB5F5A-1F8C-0385-97BC-F8642F602C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6FD073-913A-47F5-90E6-D3D6BCFBC061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56524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5B3D2D-FAD0-CCEF-B292-79068ED77B8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06/11/2023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AA3E04-CC3A-50E0-23BC-922DD66C72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Atelier Raspi N°2 Novembre 2023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347077-A879-3CC8-1AE8-A69D1060E6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8280FF-1B9F-4C2D-A65C-4B7577E11CAE}" type="slidenum">
              <a:t>‹N°›</a:t>
            </a:fld>
            <a:endParaRPr lang="fr-FR"/>
          </a:p>
        </p:txBody>
      </p:sp>
      <p:sp>
        <p:nvSpPr>
          <p:cNvPr id="5" name=" 4">
            <a:extLst>
              <a:ext uri="{FF2B5EF4-FFF2-40B4-BE49-F238E27FC236}">
                <a16:creationId xmlns:a16="http://schemas.microsoft.com/office/drawing/2014/main" id="{A11EF51D-0290-2CEF-976A-740E74995D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480" y="273600"/>
            <a:ext cx="10972440" cy="1144800"/>
          </a:xfrm>
        </p:spPr>
        <p:txBody>
          <a:bodyPr lIns="0" tIns="0" rIns="0" bIns="0"/>
          <a:lstStyle>
            <a:lvl1pPr algn="ctr" hangingPunct="0">
              <a:defRPr>
                <a:latin typeface="Liberation Sans" pitchFamily="18"/>
              </a:defRPr>
            </a:lvl1pPr>
          </a:lstStyle>
          <a:p>
            <a:endParaRPr lang="fr-FR"/>
          </a:p>
        </p:txBody>
      </p:sp>
      <p:sp>
        <p:nvSpPr>
          <p:cNvPr id="6" name=" 5">
            <a:extLst>
              <a:ext uri="{FF2B5EF4-FFF2-40B4-BE49-F238E27FC236}">
                <a16:creationId xmlns:a16="http://schemas.microsoft.com/office/drawing/2014/main" id="{F91EF42B-1BDC-E056-6A12-C18E6DD71C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9480" y="1604520"/>
            <a:ext cx="10972440" cy="3977279"/>
          </a:xfrm>
        </p:spPr>
        <p:txBody>
          <a:bodyPr lIns="0" tIns="0" rIns="0" bIns="0"/>
          <a:lstStyle>
            <a:lvl1pPr hangingPunct="0">
              <a:spcBef>
                <a:spcPts val="1417"/>
              </a:spcBef>
              <a:defRPr sz="3200">
                <a:latin typeface="Liberation Sans" pitchFamily="18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06928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737034-47B8-605E-06C6-CC0F4D0BE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4DF2D5-66F3-20BD-9141-0E9DCA64B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6AEC2D-63B2-ACB7-A7A2-90B81435307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0BC97EDC-89C4-4EC7-99B1-7F6615097C81}" type="datetime1">
              <a:rPr lang="fr-FR"/>
              <a:pPr lvl="0"/>
              <a:t>12/11/2025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1F8F4A-15ED-2B16-22FE-F556BDE96FE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2FEE32-8EAD-7BA1-9EE9-BF459881A7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4C66FF18-1E71-49A6-808E-62424E33F4C7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 dir="u"/>
  </p:transition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A0092-9B13-9EE4-FC6B-8A4D127DF8C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-1005693"/>
            <a:ext cx="9144000" cy="2387598"/>
          </a:xfrm>
        </p:spPr>
        <p:txBody>
          <a:bodyPr/>
          <a:lstStyle/>
          <a:p>
            <a:pPr lvl="0"/>
            <a:r>
              <a:rPr lang="fr-FR">
                <a:latin typeface="Tahoma" pitchFamily="34"/>
                <a:ea typeface="Tahoma" pitchFamily="34"/>
                <a:cs typeface="Tahoma" pitchFamily="34"/>
              </a:rPr>
              <a:t>Atelier Raspi</a:t>
            </a:r>
          </a:p>
        </p:txBody>
      </p:sp>
      <p:pic>
        <p:nvPicPr>
          <p:cNvPr id="3" name="Image 5">
            <a:extLst>
              <a:ext uri="{FF2B5EF4-FFF2-40B4-BE49-F238E27FC236}">
                <a16:creationId xmlns:a16="http://schemas.microsoft.com/office/drawing/2014/main" id="{597C92E6-6492-B8A3-0811-EFE1DBDD0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94" y="3185806"/>
            <a:ext cx="721324" cy="8603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3">
            <a:extLst>
              <a:ext uri="{FF2B5EF4-FFF2-40B4-BE49-F238E27FC236}">
                <a16:creationId xmlns:a16="http://schemas.microsoft.com/office/drawing/2014/main" id="{CEF9029F-5A11-BDE3-1355-625438F6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03" y="676729"/>
            <a:ext cx="1300633" cy="130063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10">
            <a:extLst>
              <a:ext uri="{FF2B5EF4-FFF2-40B4-BE49-F238E27FC236}">
                <a16:creationId xmlns:a16="http://schemas.microsoft.com/office/drawing/2014/main" id="{B6F9BB95-4EC8-7DE3-CC87-C6331AD7C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004" y="2938191"/>
            <a:ext cx="3289334" cy="320563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12">
            <a:extLst>
              <a:ext uri="{FF2B5EF4-FFF2-40B4-BE49-F238E27FC236}">
                <a16:creationId xmlns:a16="http://schemas.microsoft.com/office/drawing/2014/main" id="{D8A553B5-E736-F1E2-3442-86607513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54" y="4257062"/>
            <a:ext cx="970516" cy="9882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ZoneTexte 13">
            <a:extLst>
              <a:ext uri="{FF2B5EF4-FFF2-40B4-BE49-F238E27FC236}">
                <a16:creationId xmlns:a16="http://schemas.microsoft.com/office/drawing/2014/main" id="{1E79916F-D36B-2C3D-FA02-A46DC92D2366}"/>
              </a:ext>
            </a:extLst>
          </p:cNvPr>
          <p:cNvSpPr txBox="1"/>
          <p:nvPr/>
        </p:nvSpPr>
        <p:spPr>
          <a:xfrm>
            <a:off x="260338" y="6385959"/>
            <a:ext cx="11931667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L’atelier a pour valeurs, le partage, l’aide, la formation, le faire et construire ensemble à partir de l’expérience des participants</a:t>
            </a:r>
          </a:p>
        </p:txBody>
      </p:sp>
      <p:sp>
        <p:nvSpPr>
          <p:cNvPr id="8" name="ZoneTexte 14">
            <a:extLst>
              <a:ext uri="{FF2B5EF4-FFF2-40B4-BE49-F238E27FC236}">
                <a16:creationId xmlns:a16="http://schemas.microsoft.com/office/drawing/2014/main" id="{B3A132A5-01FC-7B64-38E2-2E917786D3C0}"/>
              </a:ext>
            </a:extLst>
          </p:cNvPr>
          <p:cNvSpPr txBox="1"/>
          <p:nvPr/>
        </p:nvSpPr>
        <p:spPr>
          <a:xfrm>
            <a:off x="1900799" y="3706401"/>
            <a:ext cx="237519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Logo du Raspberry Pico</a:t>
            </a:r>
          </a:p>
        </p:txBody>
      </p:sp>
      <p:sp>
        <p:nvSpPr>
          <p:cNvPr id="9" name="ZoneTexte 15">
            <a:extLst>
              <a:ext uri="{FF2B5EF4-FFF2-40B4-BE49-F238E27FC236}">
                <a16:creationId xmlns:a16="http://schemas.microsoft.com/office/drawing/2014/main" id="{6A714171-0A04-7BB2-98E9-8C46D9447EA8}"/>
              </a:ext>
            </a:extLst>
          </p:cNvPr>
          <p:cNvSpPr txBox="1"/>
          <p:nvPr/>
        </p:nvSpPr>
        <p:spPr>
          <a:xfrm>
            <a:off x="1900799" y="4770854"/>
            <a:ext cx="219681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Logo du MicroPython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44A159A5-7414-2044-86FD-F66D6D007295}"/>
              </a:ext>
            </a:extLst>
          </p:cNvPr>
          <p:cNvSpPr txBox="1"/>
          <p:nvPr/>
        </p:nvSpPr>
        <p:spPr>
          <a:xfrm>
            <a:off x="1275721" y="1211457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Atelier N°1</a:t>
            </a:r>
            <a:r>
              <a:rPr lang="fr-FR" sz="4400" dirty="0">
                <a:solidFill>
                  <a:srgbClr val="000000"/>
                </a:solidFill>
                <a:latin typeface="Calibri Light"/>
              </a:rPr>
              <a:t>2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La mini serre instrumentée</a:t>
            </a:r>
          </a:p>
          <a:p>
            <a:pPr lvl="0" algn="ctr">
              <a:lnSpc>
                <a:spcPct val="7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dirty="0">
                <a:latin typeface="+mj-lt"/>
              </a:rPr>
              <a:t>DHT11/22, KY40</a:t>
            </a:r>
            <a:endParaRPr lang="fr-FR" sz="4400" b="0" i="0" u="none" strike="noStrike" kern="1200" cap="none" spc="0" baseline="0" dirty="0">
              <a:solidFill>
                <a:srgbClr val="000000"/>
              </a:solidFill>
              <a:uFillTx/>
              <a:latin typeface="+mj-l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07B1F8-9AD2-931B-A63F-7EB1B036CA15}"/>
              </a:ext>
            </a:extLst>
          </p:cNvPr>
          <p:cNvSpPr txBox="1"/>
          <p:nvPr/>
        </p:nvSpPr>
        <p:spPr>
          <a:xfrm>
            <a:off x="317897" y="1606471"/>
            <a:ext cx="10515600" cy="51662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i="0" u="none" strike="noStrike" kern="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1</a:t>
            </a:r>
            <a:r>
              <a:rPr lang="fr-FR" i="0" u="none" strike="noStrike" kern="120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600" dirty="0"/>
              <a:t>Le capteur DHT11/22</a:t>
            </a:r>
            <a:endParaRPr lang="fr-FR" i="0" u="none" strike="noStrike" kern="0" cap="none" spc="0" baseline="0" dirty="0"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i="0" u="none" strike="noStrike" kern="120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2 </a:t>
            </a:r>
            <a:r>
              <a:rPr lang="fr-FR" sz="1600" i="0" u="none" strike="noStrike" kern="120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fr-FR" sz="1600" dirty="0"/>
              <a:t>e capteur de température</a:t>
            </a:r>
            <a:endParaRPr lang="fr-F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3 </a:t>
            </a:r>
            <a:r>
              <a:rPr lang="fr-F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fr-FR" sz="1600" dirty="0"/>
              <a:t>e capteur d’humidité</a:t>
            </a:r>
            <a:endParaRPr lang="fr-FR" kern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fr-FR" i="0" u="none" strike="noStrike" kern="0" cap="none" spc="0" baseline="0" dirty="0"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tape 4</a:t>
            </a:r>
            <a:r>
              <a:rPr lang="fr-F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600" dirty="0"/>
              <a:t>Le protocole « one </a:t>
            </a:r>
            <a:r>
              <a:rPr lang="fr-FR" sz="1600" dirty="0" err="1"/>
              <a:t>wire</a:t>
            </a:r>
            <a:r>
              <a:rPr lang="fr-FR" sz="1600" dirty="0"/>
              <a:t> »</a:t>
            </a: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Etape 5 </a:t>
            </a: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âblage du capteur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6 Affichage des données du capteur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7 Rajout des 4 </a:t>
            </a:r>
            <a:r>
              <a:rPr lang="fr-FR" kern="0" dirty="0" err="1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leds</a:t>
            </a: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câblage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8 Cahier des charges du programme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9 Le programme lecture capteur et affichage </a:t>
            </a:r>
            <a:r>
              <a:rPr lang="fr-FR" kern="0" dirty="0" err="1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leds</a:t>
            </a: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1/2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10 </a:t>
            </a:r>
            <a:r>
              <a:rPr lang="fr-FR" sz="1600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fr-FR" sz="1600" dirty="0"/>
              <a:t>’encodeur KY40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11 </a:t>
            </a:r>
            <a:r>
              <a:rPr lang="fr-FR" sz="1600" dirty="0"/>
              <a:t>Construction du KY40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12 </a:t>
            </a:r>
            <a:r>
              <a:rPr lang="fr-FR" sz="1600" dirty="0"/>
              <a:t>Les signaux du KY40</a:t>
            </a:r>
            <a:endParaRPr lang="fr-FR" kern="0" dirty="0">
              <a:solidFill>
                <a:srgbClr val="7030A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Etape13</a:t>
            </a:r>
            <a:r>
              <a:rPr lang="fr-FR" kern="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fr-FR" sz="1600" dirty="0"/>
              <a:t>Le schéma électrique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14 </a:t>
            </a:r>
            <a:r>
              <a:rPr lang="fr-FR" sz="1600" dirty="0"/>
              <a:t>Le programme ½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Etape 15 </a:t>
            </a:r>
            <a:r>
              <a:rPr lang="fr-FR" sz="1600" dirty="0"/>
              <a:t>Le programme 2/2</a:t>
            </a:r>
            <a:endParaRPr lang="fr-FR" kern="0" dirty="0">
              <a:solidFill>
                <a:srgbClr val="7030A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GI1	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Glossaire informatique1</a:t>
            </a:r>
            <a:endParaRPr lang="fr-FR" b="0" i="0" u="none" strike="noStrike" kern="0" cap="none" spc="0" baseline="0" dirty="0">
              <a:solidFill>
                <a:srgbClr val="7030A0"/>
              </a:solidFill>
              <a:uFillTx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GI2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Glossaire informatique2</a:t>
            </a: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GI3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Glossaire informatique3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7030A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GI4  </a:t>
            </a: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Glossaire informatique4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GI5  </a:t>
            </a:r>
            <a:r>
              <a:rPr lang="fr-FR" kern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Glossaire informatique5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kern="0" dirty="0">
                <a:solidFill>
                  <a:srgbClr val="7030A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GI6  </a:t>
            </a:r>
            <a:r>
              <a:rPr lang="fr-FR" kern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Glossaire informatique6</a:t>
            </a:r>
          </a:p>
          <a:p>
            <a:pPr lvl="1">
              <a:lnSpc>
                <a:spcPct val="60000"/>
              </a:lnSpc>
              <a:spcBef>
                <a:spcPts val="500"/>
              </a:spcBef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0" i="0" u="none" strike="noStrike" kern="0" cap="none" spc="0" baseline="0" dirty="0">
                <a:solidFill>
                  <a:srgbClr val="000000"/>
                </a:solidFill>
                <a:uFillTx/>
                <a:ea typeface="Tahoma" panose="020B0604030504040204" pitchFamily="34" charset="0"/>
                <a:cs typeface="Tahoma" panose="020B0604030504040204" pitchFamily="34" charset="0"/>
              </a:rPr>
              <a:t>GE1  Glossaire électronique</a:t>
            </a:r>
          </a:p>
          <a:p>
            <a:pPr marL="457200" marR="0" lvl="1" indent="0" algn="l" defTabSz="914400" rtl="0" fontAlgn="auto" hangingPunct="1">
              <a:lnSpc>
                <a:spcPct val="60000"/>
              </a:lnSpc>
              <a:spcBef>
                <a:spcPts val="500"/>
              </a:spcBef>
              <a:spcAft>
                <a:spcPts val="0"/>
              </a:spcAft>
              <a:buNone/>
              <a:tabLst/>
              <a:defRPr sz="16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70F59C3-A379-750D-CA3A-33F44EE56A53}"/>
              </a:ext>
            </a:extLst>
          </p:cNvPr>
          <p:cNvSpPr txBox="1"/>
          <p:nvPr/>
        </p:nvSpPr>
        <p:spPr>
          <a:xfrm>
            <a:off x="838200" y="393187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Atelier N°12 La mini serre instrumentée</a:t>
            </a:r>
          </a:p>
          <a:p>
            <a:pPr algn="ctr">
              <a:lnSpc>
                <a:spcPct val="7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dirty="0">
                <a:solidFill>
                  <a:srgbClr val="000000"/>
                </a:solidFill>
                <a:latin typeface="Calibri Light"/>
              </a:rPr>
              <a:t>Capteurs </a:t>
            </a:r>
            <a:r>
              <a:rPr lang="fr-FR" sz="2800" kern="0" dirty="0">
                <a:solidFill>
                  <a:srgbClr val="000000"/>
                </a:solidFill>
              </a:rPr>
              <a:t>DHT11/22, KY40</a:t>
            </a:r>
            <a:endParaRPr lang="fr-FR" sz="2800" dirty="0">
              <a:solidFill>
                <a:srgbClr val="000000"/>
              </a:solidFill>
            </a:endParaRPr>
          </a:p>
          <a:p>
            <a:pPr marL="0" marR="0" lvl="0" indent="0" algn="ctr" defTabSz="914400" rtl="0" fontAlgn="auto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4400" b="0" i="0" u="none" strike="noStrike" kern="1200" cap="none" spc="0" baseline="0" dirty="0">
              <a:solidFill>
                <a:srgbClr val="000000"/>
              </a:solidFill>
              <a:uFillTx/>
              <a:latin typeface="Calibri Ligh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30F0A1-2024-00AB-3979-85927392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639" y="2259113"/>
            <a:ext cx="5361981" cy="233977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2B10213-8F5F-66F7-02C0-06C4C172B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4" y="900132"/>
            <a:ext cx="11734800" cy="526277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8335FEF-3B21-7290-1E7B-ACACA9184EEA}"/>
              </a:ext>
            </a:extLst>
          </p:cNvPr>
          <p:cNvSpPr txBox="1"/>
          <p:nvPr/>
        </p:nvSpPr>
        <p:spPr>
          <a:xfrm>
            <a:off x="1994418" y="267828"/>
            <a:ext cx="79426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dirty="0"/>
              <a:t>A12E1 La mini serre instrumentée le capteur DHT11/22</a:t>
            </a:r>
          </a:p>
        </p:txBody>
      </p:sp>
    </p:spTree>
    <p:extLst>
      <p:ext uri="{BB962C8B-B14F-4D97-AF65-F5344CB8AC3E}">
        <p14:creationId xmlns:p14="http://schemas.microsoft.com/office/powerpoint/2010/main" val="8776922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3406B5C-E613-3425-1A69-3BFAFE1EF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05" y="1449101"/>
            <a:ext cx="11674595" cy="479378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D811A08-C614-1839-E1A0-F88478D9814D}"/>
              </a:ext>
            </a:extLst>
          </p:cNvPr>
          <p:cNvSpPr txBox="1"/>
          <p:nvPr/>
        </p:nvSpPr>
        <p:spPr>
          <a:xfrm>
            <a:off x="2124658" y="615115"/>
            <a:ext cx="79426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A12E2 La mini serre instrumentée DHT11/22</a:t>
            </a:r>
          </a:p>
          <a:p>
            <a:pPr algn="ctr"/>
            <a:r>
              <a:rPr lang="fr-FR" sz="2800" dirty="0"/>
              <a:t> Le capteur de température</a:t>
            </a:r>
          </a:p>
        </p:txBody>
      </p:sp>
    </p:spTree>
    <p:extLst>
      <p:ext uri="{BB962C8B-B14F-4D97-AF65-F5344CB8AC3E}">
        <p14:creationId xmlns:p14="http://schemas.microsoft.com/office/powerpoint/2010/main" val="10333332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775EED-08F9-17F7-7FBA-EF55AB10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5" y="1082699"/>
            <a:ext cx="11482873" cy="52202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6649FD-66D7-1A30-AA6C-E757F77BCFCF}"/>
              </a:ext>
            </a:extLst>
          </p:cNvPr>
          <p:cNvSpPr/>
          <p:nvPr/>
        </p:nvSpPr>
        <p:spPr>
          <a:xfrm>
            <a:off x="737118" y="587829"/>
            <a:ext cx="6867331" cy="1045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302D620-CAAE-EF3F-8B94-BBFC67A86519}"/>
              </a:ext>
            </a:extLst>
          </p:cNvPr>
          <p:cNvSpPr txBox="1"/>
          <p:nvPr/>
        </p:nvSpPr>
        <p:spPr>
          <a:xfrm>
            <a:off x="940058" y="1210220"/>
            <a:ext cx="79426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A12E3 La mini serre instrumentée DHT11/22</a:t>
            </a:r>
          </a:p>
          <a:p>
            <a:pPr algn="ctr"/>
            <a:r>
              <a:rPr lang="fr-FR" sz="2800" dirty="0"/>
              <a:t>Le capteur d’humidité</a:t>
            </a:r>
          </a:p>
        </p:txBody>
      </p:sp>
    </p:spTree>
    <p:extLst>
      <p:ext uri="{BB962C8B-B14F-4D97-AF65-F5344CB8AC3E}">
        <p14:creationId xmlns:p14="http://schemas.microsoft.com/office/powerpoint/2010/main" val="418493163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4AD1142-BCAF-AA3B-C647-B63315388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9" y="1746294"/>
            <a:ext cx="11412451" cy="44965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F491E18-01C6-629B-D48F-6BEC039CCE44}"/>
              </a:ext>
            </a:extLst>
          </p:cNvPr>
          <p:cNvSpPr txBox="1"/>
          <p:nvPr/>
        </p:nvSpPr>
        <p:spPr>
          <a:xfrm>
            <a:off x="2124658" y="615115"/>
            <a:ext cx="79426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A12E4 La mini serre instrumentée DHT11/22</a:t>
            </a:r>
          </a:p>
          <a:p>
            <a:pPr algn="ctr"/>
            <a:r>
              <a:rPr lang="fr-FR" sz="2800" dirty="0"/>
              <a:t>Le protocole « one </a:t>
            </a:r>
            <a:r>
              <a:rPr lang="fr-FR" sz="2800" dirty="0" err="1"/>
              <a:t>wire</a:t>
            </a:r>
            <a:r>
              <a:rPr lang="fr-FR" sz="28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0150331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ADB1015-8426-0E8C-AB61-CC5518FCC58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940000" y="246240"/>
            <a:ext cx="5119200" cy="47937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B3F6ADB-F80E-DE82-2835-6523D49305AC}"/>
              </a:ext>
            </a:extLst>
          </p:cNvPr>
          <p:cNvSpPr txBox="1"/>
          <p:nvPr/>
        </p:nvSpPr>
        <p:spPr>
          <a:xfrm>
            <a:off x="838080" y="365040"/>
            <a:ext cx="10515600" cy="630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A12E</a:t>
            </a:r>
            <a:r>
              <a:rPr lang="fr-FR" sz="3200" kern="0" dirty="0"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5</a:t>
            </a: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 Exercice 1 : </a:t>
            </a:r>
            <a:r>
              <a:rPr lang="fr-FR" sz="3200" b="0" i="0" u="none" strike="noStrike" kern="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Câblage</a:t>
            </a: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 du DHT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C79172-86A1-D5E1-F80E-37089800299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0000" y="1972800"/>
            <a:ext cx="5158080" cy="28872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Espace réservé de la date 8">
            <a:extLst>
              <a:ext uri="{FF2B5EF4-FFF2-40B4-BE49-F238E27FC236}">
                <a16:creationId xmlns:a16="http://schemas.microsoft.com/office/drawing/2014/main" id="{120385C9-0184-AA82-F179-05C608D1F6AE}"/>
              </a:ext>
            </a:extLst>
          </p:cNvPr>
          <p:cNvSpPr txBox="1"/>
          <p:nvPr/>
        </p:nvSpPr>
        <p:spPr>
          <a:xfrm>
            <a:off x="838799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ECBD527B-2E63-429B-8819-C127310BD4AB}" type="datetime1"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</a:tabLst>
              </a:pPr>
              <a:t>12/11/2025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7" name="Espace réservé du numéro de diapositive 8">
            <a:extLst>
              <a:ext uri="{FF2B5EF4-FFF2-40B4-BE49-F238E27FC236}">
                <a16:creationId xmlns:a16="http://schemas.microsoft.com/office/drawing/2014/main" id="{C0E94D88-8ED0-1693-0B94-AA56764B258D}"/>
              </a:ext>
            </a:extLst>
          </p:cNvPr>
          <p:cNvSpPr txBox="1"/>
          <p:nvPr/>
        </p:nvSpPr>
        <p:spPr>
          <a:xfrm>
            <a:off x="8611200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331B79A1-C4FF-4541-9D46-7B654ADC64B2}" type="slidenum">
              <a:rPr/>
              <a:t>7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44DE60-549C-181F-C572-166FA664645A}"/>
              </a:ext>
            </a:extLst>
          </p:cNvPr>
          <p:cNvSpPr txBox="1"/>
          <p:nvPr/>
        </p:nvSpPr>
        <p:spPr>
          <a:xfrm>
            <a:off x="1082351" y="5178490"/>
            <a:ext cx="304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Pin de lecture du capteur: GP5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B060F25-790F-7D76-5D29-46DF77810A85}"/>
              </a:ext>
            </a:extLst>
          </p:cNvPr>
          <p:cNvSpPr txBox="1"/>
          <p:nvPr/>
        </p:nvSpPr>
        <p:spPr>
          <a:xfrm>
            <a:off x="5940000" y="5178490"/>
            <a:ext cx="5804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Pin GP13      </a:t>
            </a:r>
            <a:r>
              <a:rPr lang="fr-FR" dirty="0">
                <a:solidFill>
                  <a:srgbClr val="FF0000"/>
                </a:solidFill>
              </a:rPr>
              <a:t>ATTENTION</a:t>
            </a:r>
          </a:p>
          <a:p>
            <a:r>
              <a:rPr lang="fr-FR" dirty="0"/>
              <a:t>Suivant le modèle de dht22, l’alimentation + et- est inversée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7A4748D-B651-8688-509B-EDE6872335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39920" y="1800000"/>
            <a:ext cx="6580079" cy="3420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Espace réservé de la date 11">
            <a:extLst>
              <a:ext uri="{FF2B5EF4-FFF2-40B4-BE49-F238E27FC236}">
                <a16:creationId xmlns:a16="http://schemas.microsoft.com/office/drawing/2014/main" id="{C8CE575D-AB4B-F970-3141-AF541CFA0566}"/>
              </a:ext>
            </a:extLst>
          </p:cNvPr>
          <p:cNvSpPr txBox="1"/>
          <p:nvPr/>
        </p:nvSpPr>
        <p:spPr>
          <a:xfrm>
            <a:off x="838799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F97ED2D4-ABCE-4127-A159-6C113053CBC1}" type="datetime1"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</a:tabLst>
              </a:pPr>
              <a:t>12/11/2025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5" name="Espace réservé du numéro de diapositive 11">
            <a:extLst>
              <a:ext uri="{FF2B5EF4-FFF2-40B4-BE49-F238E27FC236}">
                <a16:creationId xmlns:a16="http://schemas.microsoft.com/office/drawing/2014/main" id="{170C2B41-9F29-9C69-1AB9-F6CF5525D09F}"/>
              </a:ext>
            </a:extLst>
          </p:cNvPr>
          <p:cNvSpPr txBox="1"/>
          <p:nvPr/>
        </p:nvSpPr>
        <p:spPr>
          <a:xfrm>
            <a:off x="8611200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39E72409-BF3E-42A9-8F27-53FFE28440BE}" type="slidenum">
              <a:rPr/>
              <a:t>8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6" name="Titre 7">
            <a:extLst>
              <a:ext uri="{FF2B5EF4-FFF2-40B4-BE49-F238E27FC236}">
                <a16:creationId xmlns:a16="http://schemas.microsoft.com/office/drawing/2014/main" id="{5BA24297-F3E6-8064-98AC-7FBFCD99B472}"/>
              </a:ext>
            </a:extLst>
          </p:cNvPr>
          <p:cNvSpPr txBox="1"/>
          <p:nvPr/>
        </p:nvSpPr>
        <p:spPr>
          <a:xfrm>
            <a:off x="838080" y="365399"/>
            <a:ext cx="10515600" cy="630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A12E</a:t>
            </a:r>
            <a:r>
              <a:rPr lang="fr-FR" sz="3200" kern="0" dirty="0"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6</a:t>
            </a: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 Exercice 2 : </a:t>
            </a:r>
            <a:r>
              <a:rPr lang="fr-FR" sz="32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Affichage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374F548-A5FC-7C2A-72C7-B0B905861F06}"/>
              </a:ext>
            </a:extLst>
          </p:cNvPr>
          <p:cNvSpPr txBox="1"/>
          <p:nvPr/>
        </p:nvSpPr>
        <p:spPr>
          <a:xfrm>
            <a:off x="1427584" y="5533053"/>
            <a:ext cx="611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Pin de lecture sera différent suivant le choix lors du câblage  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6A168A49-0A12-E276-56E4-F2280E7657CE}"/>
              </a:ext>
            </a:extLst>
          </p:cNvPr>
          <p:cNvGraphicFramePr>
            <a:graphicFrameLocks noGrp="1"/>
          </p:cNvGraphicFramePr>
          <p:nvPr/>
        </p:nvGraphicFramePr>
        <p:xfrm>
          <a:off x="1869839" y="2535480"/>
          <a:ext cx="3044517" cy="1828800"/>
        </p:xfrm>
        <a:graphic>
          <a:graphicData uri="http://schemas.openxmlformats.org/drawingml/2006/table">
            <a:tbl>
              <a:tblPr firstRow="1" bandRow="1"/>
              <a:tblGrid>
                <a:gridCol w="1014839">
                  <a:extLst>
                    <a:ext uri="{9D8B030D-6E8A-4147-A177-3AD203B41FA5}">
                      <a16:colId xmlns:a16="http://schemas.microsoft.com/office/drawing/2014/main" val="3438374333"/>
                    </a:ext>
                  </a:extLst>
                </a:gridCol>
                <a:gridCol w="1014839">
                  <a:extLst>
                    <a:ext uri="{9D8B030D-6E8A-4147-A177-3AD203B41FA5}">
                      <a16:colId xmlns:a16="http://schemas.microsoft.com/office/drawing/2014/main" val="3462307859"/>
                    </a:ext>
                  </a:extLst>
                </a:gridCol>
                <a:gridCol w="1014839">
                  <a:extLst>
                    <a:ext uri="{9D8B030D-6E8A-4147-A177-3AD203B41FA5}">
                      <a16:colId xmlns:a16="http://schemas.microsoft.com/office/drawing/2014/main" val="3016308640"/>
                    </a:ext>
                  </a:extLst>
                </a:gridCol>
              </a:tblGrid>
              <a:tr h="36467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fr-FR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fr-FR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Broche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fr-FR" sz="1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GPIO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915603"/>
                  </a:ext>
                </a:extLst>
              </a:tr>
              <a:tr h="36467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led_0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33608"/>
                  </a:ext>
                </a:extLst>
              </a:tr>
              <a:tr h="36467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led_1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36634"/>
                  </a:ext>
                </a:extLst>
              </a:tr>
              <a:tr h="36467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led_2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414100"/>
                  </a:ext>
                </a:extLst>
              </a:tr>
              <a:tr h="364679"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led_3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8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Microsoft YaHei" pitchFamily="2"/>
                          <a:cs typeface="Lucida Sans" pitchFamily="2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773359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CBA19A22-62EF-2A8D-95FD-54943E48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16175400">
            <a:off x="6499125" y="892347"/>
            <a:ext cx="3339719" cy="5220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80E9773D-F9CE-5045-9D31-F434BFD72CB1}"/>
              </a:ext>
            </a:extLst>
          </p:cNvPr>
          <p:cNvSpPr txBox="1"/>
          <p:nvPr/>
        </p:nvSpPr>
        <p:spPr>
          <a:xfrm>
            <a:off x="4039199" y="6357240"/>
            <a:ext cx="41144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t>Atelier N°3 Capteurs DHT11/22</a:t>
            </a:r>
          </a:p>
        </p:txBody>
      </p:sp>
      <p:sp>
        <p:nvSpPr>
          <p:cNvPr id="5" name="Espace réservé de la date 9">
            <a:extLst>
              <a:ext uri="{FF2B5EF4-FFF2-40B4-BE49-F238E27FC236}">
                <a16:creationId xmlns:a16="http://schemas.microsoft.com/office/drawing/2014/main" id="{044F0218-544E-5E17-555F-7DCA80540932}"/>
              </a:ext>
            </a:extLst>
          </p:cNvPr>
          <p:cNvSpPr txBox="1"/>
          <p:nvPr/>
        </p:nvSpPr>
        <p:spPr>
          <a:xfrm>
            <a:off x="838799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9ED299F6-0D96-4932-9ED3-B7C5466EBC0B}" type="datetime1"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</a:tabLst>
              </a:pPr>
              <a:t>12/11/2025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6" name="Espace réservé du numéro de diapositive 9">
            <a:extLst>
              <a:ext uri="{FF2B5EF4-FFF2-40B4-BE49-F238E27FC236}">
                <a16:creationId xmlns:a16="http://schemas.microsoft.com/office/drawing/2014/main" id="{0039C65C-0A38-EE37-12F5-D1EC09BDB9A1}"/>
              </a:ext>
            </a:extLst>
          </p:cNvPr>
          <p:cNvSpPr txBox="1"/>
          <p:nvPr/>
        </p:nvSpPr>
        <p:spPr>
          <a:xfrm>
            <a:off x="8611200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01F02032-D288-4A06-A131-4C4C631B5214}" type="slidenum">
              <a:rPr/>
              <a:t>9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7" name="Titre 9">
            <a:extLst>
              <a:ext uri="{FF2B5EF4-FFF2-40B4-BE49-F238E27FC236}">
                <a16:creationId xmlns:a16="http://schemas.microsoft.com/office/drawing/2014/main" id="{4B5A8433-06B8-C95B-D065-551E1F6C977C}"/>
              </a:ext>
            </a:extLst>
          </p:cNvPr>
          <p:cNvSpPr txBox="1"/>
          <p:nvPr/>
        </p:nvSpPr>
        <p:spPr>
          <a:xfrm>
            <a:off x="838080" y="365399"/>
            <a:ext cx="10515600" cy="630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A12E7 Exercice 3 : </a:t>
            </a: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Rajouter les 4 </a:t>
            </a:r>
            <a:r>
              <a:rPr lang="fr-FR" sz="4400" b="0" i="0" u="none" strike="noStrike" kern="1200" cap="none" spc="0" baseline="0" dirty="0" err="1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leds</a:t>
            </a:r>
            <a:endParaRPr lang="fr-FR" sz="440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20">
            <a:extLst>
              <a:ext uri="{FF2B5EF4-FFF2-40B4-BE49-F238E27FC236}">
                <a16:creationId xmlns:a16="http://schemas.microsoft.com/office/drawing/2014/main" id="{1F11B9B2-0540-71B5-C1FE-F5F33FBD8D5A}"/>
              </a:ext>
            </a:extLst>
          </p:cNvPr>
          <p:cNvSpPr/>
          <p:nvPr/>
        </p:nvSpPr>
        <p:spPr>
          <a:xfrm>
            <a:off x="342720" y="1800000"/>
            <a:ext cx="6677279" cy="432000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4472C4">
              <a:alpha val="6000"/>
            </a:srgbClr>
          </a:solidFill>
          <a:ln w="12600" cap="flat">
            <a:solidFill>
              <a:srgbClr val="172C51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1" i="0" u="none" strike="noStrike" kern="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Microsoft YaHei" pitchFamily="2"/>
                <a:cs typeface="Lucida Sans" pitchFamily="2"/>
              </a:rPr>
              <a:t>Objectif 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r-FR" sz="1800" b="1" i="0" u="none" strike="noStrike" kern="0" cap="none" spc="0" baseline="0">
              <a:ln>
                <a:noFill/>
              </a:ln>
              <a:solidFill>
                <a:srgbClr val="000000"/>
              </a:solidFill>
              <a:latin typeface="Calibri" pitchFamily="18"/>
              <a:ea typeface="Microsoft YaHei" pitchFamily="2"/>
              <a:cs typeface="Lucida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Importer les modules nécessaires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Déclarer le capteur DHT11 et les 4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Déclarer une liste contenant les 4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Parcourir la liste de led pour les éteindre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Boucle inifnie 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Lecture du capteur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Si temperature &lt; 21, eteindre les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Si temperature &lt; 22, allumer 1 led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Si temperature &lt; 23, allumer 2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Si temperature &lt; 24, allumer 3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Sinon allumer toutes les leds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1800" b="0" i="0" u="none" strike="noStrike" kern="0" cap="none" spc="0" baseline="0">
                <a:ln>
                  <a:noFill/>
                </a:ln>
                <a:solidFill>
                  <a:srgbClr val="7030A0"/>
                </a:solidFill>
                <a:latin typeface="Calibri" pitchFamily="18"/>
                <a:ea typeface="Microsoft YaHei" pitchFamily="2"/>
                <a:cs typeface="Lucida Sans" pitchFamily="2"/>
              </a:rPr>
              <a:t>	Attendre 2 secondes</a:t>
            </a:r>
          </a:p>
        </p:txBody>
      </p:sp>
      <p:sp>
        <p:nvSpPr>
          <p:cNvPr id="3" name="Espace réservé du pied de page 10">
            <a:extLst>
              <a:ext uri="{FF2B5EF4-FFF2-40B4-BE49-F238E27FC236}">
                <a16:creationId xmlns:a16="http://schemas.microsoft.com/office/drawing/2014/main" id="{43F4F81E-FB55-9E5A-555B-7F41DF36875E}"/>
              </a:ext>
            </a:extLst>
          </p:cNvPr>
          <p:cNvSpPr txBox="1"/>
          <p:nvPr/>
        </p:nvSpPr>
        <p:spPr>
          <a:xfrm>
            <a:off x="4039199" y="6357240"/>
            <a:ext cx="41144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r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t>Atelier N°3 Capteurs DHT11/22</a:t>
            </a:r>
          </a:p>
        </p:txBody>
      </p:sp>
      <p:sp>
        <p:nvSpPr>
          <p:cNvPr id="4" name="Espace réservé de la date 10">
            <a:extLst>
              <a:ext uri="{FF2B5EF4-FFF2-40B4-BE49-F238E27FC236}">
                <a16:creationId xmlns:a16="http://schemas.microsoft.com/office/drawing/2014/main" id="{614C5B14-0661-B02F-ADC4-6FFDF8356C08}"/>
              </a:ext>
            </a:extLst>
          </p:cNvPr>
          <p:cNvSpPr txBox="1"/>
          <p:nvPr/>
        </p:nvSpPr>
        <p:spPr>
          <a:xfrm>
            <a:off x="838799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EBFB6BE7-EDC4-4E63-B68D-9641EF5C4902}" type="datetime1">
              <a:rPr lang="fr-FR" sz="1200" b="0" i="0" u="none" strike="noStrike" kern="1200" cap="none" spc="0" baseline="0">
                <a:ln>
                  <a:noFill/>
                </a:ln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Segoe UI" pitchFamily="2"/>
                <a:cs typeface="Tahoma" pitchFamily="2"/>
              </a:rPr>
              <a:pPr marL="0" marR="0" lvl="0" indent="0" algn="l" rtl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</a:tabLst>
              </a:pPr>
              <a:t>12/11/2025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5" name="Espace réservé du numéro de diapositive 10">
            <a:extLst>
              <a:ext uri="{FF2B5EF4-FFF2-40B4-BE49-F238E27FC236}">
                <a16:creationId xmlns:a16="http://schemas.microsoft.com/office/drawing/2014/main" id="{1980C2D2-BA89-E2FE-C95E-AA1D9A6C5F44}"/>
              </a:ext>
            </a:extLst>
          </p:cNvPr>
          <p:cNvSpPr txBox="1"/>
          <p:nvPr/>
        </p:nvSpPr>
        <p:spPr>
          <a:xfrm>
            <a:off x="8611200" y="6357240"/>
            <a:ext cx="2742840" cy="36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</a:pPr>
            <a:fld id="{BC5700E8-AA71-44B0-829A-FEFD4E202B88}" type="slidenum">
              <a:rPr/>
              <a:t>10</a:t>
            </a:fld>
            <a:endParaRPr lang="fr-FR" sz="1200" b="0" i="0" u="none" strike="noStrike" kern="1200" cap="none" spc="0" baseline="0">
              <a:ln>
                <a:noFill/>
              </a:ln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libri"/>
              <a:ea typeface="Segoe UI" pitchFamily="2"/>
              <a:cs typeface="Tahoma" pitchFamily="2"/>
            </a:endParaRPr>
          </a:p>
        </p:txBody>
      </p:sp>
      <p:sp>
        <p:nvSpPr>
          <p:cNvPr id="6" name="Titre 8">
            <a:extLst>
              <a:ext uri="{FF2B5EF4-FFF2-40B4-BE49-F238E27FC236}">
                <a16:creationId xmlns:a16="http://schemas.microsoft.com/office/drawing/2014/main" id="{812BFA0D-6633-F996-1B01-397678764845}"/>
              </a:ext>
            </a:extLst>
          </p:cNvPr>
          <p:cNvSpPr txBox="1"/>
          <p:nvPr/>
        </p:nvSpPr>
        <p:spPr>
          <a:xfrm>
            <a:off x="838080" y="365399"/>
            <a:ext cx="10515600" cy="630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A12E</a:t>
            </a:r>
            <a:r>
              <a:rPr lang="fr-FR" sz="4400" kern="0" dirty="0"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8</a:t>
            </a: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 Exercice 4 : </a:t>
            </a: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Coder la T° sur 4 </a:t>
            </a:r>
            <a:r>
              <a:rPr lang="fr-FR" sz="4400" b="0" i="0" u="none" strike="noStrike" kern="1200" cap="none" spc="0" baseline="0" dirty="0" err="1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LEDs</a:t>
            </a:r>
            <a:endParaRPr lang="fr-FR" sz="440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0A7D447-7D54-0F75-F8A6-03128F9FC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69" y="859424"/>
            <a:ext cx="3651379" cy="385636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19EA1B5-4393-CAE8-3219-65E978914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752" y="962471"/>
            <a:ext cx="6257456" cy="421321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3EC9191-B197-4D35-9510-9E95FDDE6A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227"/>
          <a:stretch>
            <a:fillRect/>
          </a:stretch>
        </p:blipFill>
        <p:spPr>
          <a:xfrm>
            <a:off x="805818" y="4795566"/>
            <a:ext cx="4795934" cy="1993952"/>
          </a:xfrm>
          <a:prstGeom prst="rect">
            <a:avLst/>
          </a:prstGeom>
        </p:spPr>
      </p:pic>
      <p:sp>
        <p:nvSpPr>
          <p:cNvPr id="8" name="Titre 8">
            <a:extLst>
              <a:ext uri="{FF2B5EF4-FFF2-40B4-BE49-F238E27FC236}">
                <a16:creationId xmlns:a16="http://schemas.microsoft.com/office/drawing/2014/main" id="{AAF59EBE-72A7-65A8-95D3-F2A66475DCF5}"/>
              </a:ext>
            </a:extLst>
          </p:cNvPr>
          <p:cNvSpPr txBox="1"/>
          <p:nvPr/>
        </p:nvSpPr>
        <p:spPr>
          <a:xfrm>
            <a:off x="1509884" y="149290"/>
            <a:ext cx="10515600" cy="630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A12E</a:t>
            </a:r>
            <a:r>
              <a:rPr lang="fr-FR" sz="4400" b="0" i="0" u="none" strike="noStrike" kern="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9</a:t>
            </a: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Microsoft YaHei" pitchFamily="2"/>
                <a:cs typeface="Lucida Sans" pitchFamily="2"/>
              </a:rPr>
              <a:t> Programme </a:t>
            </a:r>
            <a:r>
              <a:rPr lang="fr-FR" sz="4400" b="0" i="0" u="none" strike="noStrike" kern="1200" cap="none" spc="0" baseline="0" dirty="0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T° sur 4 </a:t>
            </a:r>
            <a:r>
              <a:rPr lang="fr-FR" sz="4400" b="0" i="0" u="none" strike="noStrike" kern="1200" cap="none" spc="0" baseline="0" dirty="0" err="1">
                <a:ln>
                  <a:noFill/>
                </a:ln>
                <a:solidFill>
                  <a:srgbClr val="000000"/>
                </a:solidFill>
                <a:latin typeface="Calibri Light" pitchFamily="34"/>
                <a:ea typeface="Calibri Light" pitchFamily="34"/>
                <a:cs typeface="Calibri Light" pitchFamily="34"/>
              </a:rPr>
              <a:t>LEDs</a:t>
            </a:r>
            <a:endParaRPr lang="fr-FR" sz="4400" b="0" i="0" u="none" strike="noStrike" kern="1200" cap="none" spc="0" baseline="0" dirty="0">
              <a:ln>
                <a:noFill/>
              </a:ln>
              <a:solidFill>
                <a:srgbClr val="000000"/>
              </a:solidFill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23972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994F77AE-623F-0CFE-159C-AE29E2E62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816" y="4390311"/>
            <a:ext cx="2475415" cy="165089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EC2EFD9-19AD-7CBD-DEA2-69BC91AB6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756"/>
            <a:ext cx="2819794" cy="265784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D0EA7C1-183F-3049-53D8-950F166D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365129"/>
            <a:ext cx="10515600" cy="109945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A11E10 La mini serre instrumentée, l’encodeur KY40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87F19C-4DC3-81C8-F360-4ED4B143CA64}"/>
              </a:ext>
            </a:extLst>
          </p:cNvPr>
          <p:cNvSpPr txBox="1"/>
          <p:nvPr/>
        </p:nvSpPr>
        <p:spPr>
          <a:xfrm>
            <a:off x="2681174" y="1911784"/>
            <a:ext cx="91990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KY40 est un encodeur rotatif est un dispositif mécanique constitué d’un bouton rotatif, </a:t>
            </a:r>
          </a:p>
          <a:p>
            <a:r>
              <a:rPr lang="fr-FR" dirty="0"/>
              <a:t>qui lorsqu’on le tourne, actionne 2 contacts électriques l’un après l’autre.</a:t>
            </a:r>
          </a:p>
          <a:p>
            <a:r>
              <a:rPr lang="fr-FR" dirty="0"/>
              <a:t>Lorsque l’on tourne le bouton dans les  deux sens, les contacts électriques donnent des signaux</a:t>
            </a:r>
          </a:p>
          <a:p>
            <a:r>
              <a:rPr lang="fr-FR" dirty="0"/>
              <a:t>carrés l’un après l’autre, on peut en déduire le sens de rotation du bouton.</a:t>
            </a:r>
          </a:p>
          <a:p>
            <a:r>
              <a:rPr lang="fr-FR" dirty="0"/>
              <a:t>Comme les contacts sont répartis régulièrement  sur la circonférence, on peut en déduire l’angle</a:t>
            </a:r>
          </a:p>
          <a:p>
            <a:r>
              <a:rPr lang="fr-FR" dirty="0"/>
              <a:t>de rotation du bouton si l’on compte le nombre de crans.</a:t>
            </a:r>
          </a:p>
          <a:p>
            <a:r>
              <a:rPr lang="fr-FR" dirty="0"/>
              <a:t>Il y a aussi une fonction bouton poussoir lorsque l’on appuie dessus.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687F36-571D-3DC6-A2A0-2FB06967F699}"/>
              </a:ext>
            </a:extLst>
          </p:cNvPr>
          <p:cNvSpPr txBox="1"/>
          <p:nvPr/>
        </p:nvSpPr>
        <p:spPr>
          <a:xfrm>
            <a:off x="2612450" y="4390311"/>
            <a:ext cx="69671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Sur l’axe de rotation est fixé un disque, aussi appelé « roue encodeuse » </a:t>
            </a:r>
          </a:p>
          <a:p>
            <a:r>
              <a:rPr lang="fr-FR" dirty="0"/>
              <a:t>Ce disque est conducteur par endroits, et isolant à d’autres.</a:t>
            </a:r>
          </a:p>
          <a:p>
            <a:r>
              <a:rPr lang="fr-FR" dirty="0"/>
              <a:t>A l’arrière il y a des crans qui permettent de garder la rotation dans</a:t>
            </a:r>
          </a:p>
          <a:p>
            <a:r>
              <a:rPr lang="fr-FR" dirty="0"/>
              <a:t>une position.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CDA1FC5-EB2A-5C5E-9FAD-A48AEF9E0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7" r="17615"/>
          <a:stretch>
            <a:fillRect/>
          </a:stretch>
        </p:blipFill>
        <p:spPr>
          <a:xfrm>
            <a:off x="599522" y="4390311"/>
            <a:ext cx="1810303" cy="1919548"/>
          </a:xfrm>
          <a:prstGeom prst="rect">
            <a:avLst/>
          </a:prstGeom>
        </p:spPr>
      </p:pic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6EF13650-6B1F-61DB-29F7-1304CE8EE3AD}"/>
              </a:ext>
            </a:extLst>
          </p:cNvPr>
          <p:cNvCxnSpPr/>
          <p:nvPr/>
        </p:nvCxnSpPr>
        <p:spPr>
          <a:xfrm>
            <a:off x="8238931" y="5281127"/>
            <a:ext cx="1483567" cy="3825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4C86FE39-A16E-BE25-7C15-9E39D0103B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27382" y="4609321"/>
            <a:ext cx="553792" cy="224601"/>
          </a:xfrm>
          <a:prstGeom prst="bentConnector3">
            <a:avLst>
              <a:gd name="adj1" fmla="val 297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97544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7FBBE4C-BE50-F713-5A0F-C335ECB3E7C5}"/>
              </a:ext>
            </a:extLst>
          </p:cNvPr>
          <p:cNvSpPr txBox="1"/>
          <p:nvPr/>
        </p:nvSpPr>
        <p:spPr>
          <a:xfrm>
            <a:off x="942948" y="916432"/>
            <a:ext cx="1051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lamelles de contacts conductrices (qui sont en fait reliées aux pins CLK, DT, et COMMUN, notées sur le PCB)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7866E08-4DDB-5AC3-DBFE-9B647EE80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44" y="1422272"/>
            <a:ext cx="3696385" cy="24639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CF84737-38A1-75E7-DD9B-8F1B59EBD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0" t="8925" r="17366" b="3564"/>
          <a:stretch>
            <a:fillRect/>
          </a:stretch>
        </p:blipFill>
        <p:spPr>
          <a:xfrm>
            <a:off x="1338286" y="4408414"/>
            <a:ext cx="2171700" cy="20546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92F050C-FE90-45E7-A8C4-437AB0AE6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7" t="26160" r="6184" b="13080"/>
          <a:stretch>
            <a:fillRect/>
          </a:stretch>
        </p:blipFill>
        <p:spPr>
          <a:xfrm>
            <a:off x="7802651" y="4144962"/>
            <a:ext cx="2533650" cy="1248397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93B474A-80A3-B95E-2B91-EF938929EBAE}"/>
              </a:ext>
            </a:extLst>
          </p:cNvPr>
          <p:cNvSpPr txBox="1"/>
          <p:nvPr/>
        </p:nvSpPr>
        <p:spPr>
          <a:xfrm>
            <a:off x="4870896" y="1538147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Sur le disque viennent principalement reposer 2 contacts, qui sont disposés à des endroits particuliers.</a:t>
            </a:r>
          </a:p>
          <a:p>
            <a:r>
              <a:rPr lang="fr-FR" dirty="0"/>
              <a:t>Et ces contacts sont « ouverts » ou « fermés » selon s’ils se trouvent dans une zone isolante ou conductrice du disque.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3072C43-ECB8-546F-3160-84FD75984AD3}"/>
              </a:ext>
            </a:extLst>
          </p:cNvPr>
          <p:cNvSpPr txBox="1"/>
          <p:nvPr/>
        </p:nvSpPr>
        <p:spPr>
          <a:xfrm>
            <a:off x="4021494" y="4301412"/>
            <a:ext cx="2657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Axe de rotation du bouton</a:t>
            </a:r>
          </a:p>
        </p:txBody>
      </p: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FD483E22-61B5-A693-66EC-FC367862A784}"/>
              </a:ext>
            </a:extLst>
          </p:cNvPr>
          <p:cNvCxnSpPr/>
          <p:nvPr/>
        </p:nvCxnSpPr>
        <p:spPr>
          <a:xfrm rot="10800000" flipV="1">
            <a:off x="2118050" y="4478693"/>
            <a:ext cx="1810139" cy="957033"/>
          </a:xfrm>
          <a:prstGeom prst="bentConnector3">
            <a:avLst>
              <a:gd name="adj1" fmla="val 618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9A3372B6-6522-C364-314C-5EF9EAEA4BE1}"/>
              </a:ext>
            </a:extLst>
          </p:cNvPr>
          <p:cNvSpPr txBox="1"/>
          <p:nvPr/>
        </p:nvSpPr>
        <p:spPr>
          <a:xfrm>
            <a:off x="5060806" y="4901290"/>
            <a:ext cx="227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Fixation de l’ensemble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1D20941-3BAE-F1BF-1FA0-EA81CFF9BBE3}"/>
              </a:ext>
            </a:extLst>
          </p:cNvPr>
          <p:cNvSpPr txBox="1"/>
          <p:nvPr/>
        </p:nvSpPr>
        <p:spPr>
          <a:xfrm>
            <a:off x="5038531" y="3429000"/>
            <a:ext cx="24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Bouton poussoir central</a:t>
            </a:r>
          </a:p>
        </p:txBody>
      </p: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9ECC1A5D-063B-C82E-4F3A-8BC47343B5DC}"/>
              </a:ext>
            </a:extLst>
          </p:cNvPr>
          <p:cNvCxnSpPr/>
          <p:nvPr/>
        </p:nvCxnSpPr>
        <p:spPr>
          <a:xfrm rot="10800000">
            <a:off x="1866122" y="2397967"/>
            <a:ext cx="3004774" cy="1240972"/>
          </a:xfrm>
          <a:prstGeom prst="bentConnector3">
            <a:avLst>
              <a:gd name="adj1" fmla="val 1211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AC93E75A-2A0E-F7FC-B7B5-32F40E0F941C}"/>
              </a:ext>
            </a:extLst>
          </p:cNvPr>
          <p:cNvCxnSpPr>
            <a:stCxn id="24" idx="3"/>
          </p:cNvCxnSpPr>
          <p:nvPr/>
        </p:nvCxnSpPr>
        <p:spPr>
          <a:xfrm flipV="1">
            <a:off x="7335596" y="4769160"/>
            <a:ext cx="584077" cy="31679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0C3AA6D8-1793-0799-4F16-9E8710CE9812}"/>
              </a:ext>
            </a:extLst>
          </p:cNvPr>
          <p:cNvSpPr txBox="1"/>
          <p:nvPr/>
        </p:nvSpPr>
        <p:spPr>
          <a:xfrm>
            <a:off x="7103841" y="5623905"/>
            <a:ext cx="393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Coupleur de l’axe et du Bouton poussoir</a:t>
            </a:r>
          </a:p>
        </p:txBody>
      </p: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007448BD-8F82-4056-8C01-86CEFBF01FDC}"/>
              </a:ext>
            </a:extLst>
          </p:cNvPr>
          <p:cNvCxnSpPr>
            <a:stCxn id="31" idx="3"/>
          </p:cNvCxnSpPr>
          <p:nvPr/>
        </p:nvCxnSpPr>
        <p:spPr>
          <a:xfrm flipH="1" flipV="1">
            <a:off x="10019489" y="4769160"/>
            <a:ext cx="1015621" cy="1039411"/>
          </a:xfrm>
          <a:prstGeom prst="bentConnector4">
            <a:avLst>
              <a:gd name="adj1" fmla="val -22508"/>
              <a:gd name="adj2" fmla="val 10099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 : en angle 37">
            <a:extLst>
              <a:ext uri="{FF2B5EF4-FFF2-40B4-BE49-F238E27FC236}">
                <a16:creationId xmlns:a16="http://schemas.microsoft.com/office/drawing/2014/main" id="{86C6A09A-7D7B-6403-0A69-5E0428763807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H="1" flipV="1">
            <a:off x="942948" y="1101098"/>
            <a:ext cx="939702" cy="754308"/>
          </a:xfrm>
          <a:prstGeom prst="bentConnector3">
            <a:avLst>
              <a:gd name="adj1" fmla="val -24327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8DBE886A-DF68-9732-97DB-14726D9D61C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4927" y="1639621"/>
            <a:ext cx="1844613" cy="767565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re 1">
            <a:extLst>
              <a:ext uri="{FF2B5EF4-FFF2-40B4-BE49-F238E27FC236}">
                <a16:creationId xmlns:a16="http://schemas.microsoft.com/office/drawing/2014/main" id="{4FA9E038-E766-80A9-A01C-039C8061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-195771"/>
            <a:ext cx="10782124" cy="133832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A12E11 La mini serre instrumentée</a:t>
            </a:r>
            <a:br>
              <a:rPr lang="fr-FR" sz="2800" dirty="0"/>
            </a:br>
            <a:r>
              <a:rPr lang="fr-FR" sz="2800" dirty="0"/>
              <a:t>Construction du KY40</a:t>
            </a:r>
          </a:p>
        </p:txBody>
      </p:sp>
    </p:spTree>
    <p:extLst>
      <p:ext uri="{BB962C8B-B14F-4D97-AF65-F5344CB8AC3E}">
        <p14:creationId xmlns:p14="http://schemas.microsoft.com/office/powerpoint/2010/main" val="319530139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B6DB249-DA66-B2E2-2770-6F16EDB3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315" y="550882"/>
            <a:ext cx="8826230" cy="28781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D87E42-E5D7-B8E6-A2A3-CE28C17C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03" y="2931473"/>
            <a:ext cx="8553854" cy="274378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F898F19-D4DD-A492-EC9A-05A373F23841}"/>
              </a:ext>
            </a:extLst>
          </p:cNvPr>
          <p:cNvSpPr txBox="1"/>
          <p:nvPr/>
        </p:nvSpPr>
        <p:spPr>
          <a:xfrm>
            <a:off x="1060315" y="5870412"/>
            <a:ext cx="10454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444444"/>
                </a:solidFill>
                <a:latin typeface="Arial" panose="020B0604020202020204" pitchFamily="34" charset="0"/>
              </a:rPr>
              <a:t>L’</a:t>
            </a:r>
            <a:r>
              <a:rPr lang="fr-FR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encodeur rotatif incrémental est donc un bouton rotatif, qui ouvre et ferme ses contacts à des moments précis, et ce, différemment selon dans quel sens on tourne le bouton.</a:t>
            </a:r>
            <a:endParaRPr lang="fr-FR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C43ECBD-BB6B-844D-1142-2EF7D8ED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-195771"/>
            <a:ext cx="10782124" cy="133832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A12E12 La mini serre instrumentée</a:t>
            </a:r>
            <a:br>
              <a:rPr lang="fr-FR" sz="2800" dirty="0"/>
            </a:br>
            <a:r>
              <a:rPr lang="fr-FR" sz="2800" dirty="0"/>
              <a:t>Les signaux du KY40</a:t>
            </a:r>
          </a:p>
        </p:txBody>
      </p:sp>
    </p:spTree>
    <p:extLst>
      <p:ext uri="{BB962C8B-B14F-4D97-AF65-F5344CB8AC3E}">
        <p14:creationId xmlns:p14="http://schemas.microsoft.com/office/powerpoint/2010/main" val="364592614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10D040C-1879-EE77-3518-ED0011537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980733"/>
            <a:ext cx="9526329" cy="4896533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4E6E3309-3181-0AA0-EE1D-9163A3F4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-195771"/>
            <a:ext cx="10782124" cy="133832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A12E13 La mini serre instrumentée  KY40</a:t>
            </a:r>
            <a:br>
              <a:rPr lang="fr-FR" sz="2800" dirty="0"/>
            </a:br>
            <a:r>
              <a:rPr lang="fr-FR" sz="2800" dirty="0"/>
              <a:t>Le schéma électrique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E7F09D1-EC57-67AC-ECA3-2C3959877FF5}"/>
              </a:ext>
            </a:extLst>
          </p:cNvPr>
          <p:cNvSpPr txBox="1"/>
          <p:nvPr/>
        </p:nvSpPr>
        <p:spPr>
          <a:xfrm>
            <a:off x="1955260" y="1517515"/>
            <a:ext cx="3587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Suivant les versions, cette résistance</a:t>
            </a:r>
          </a:p>
          <a:p>
            <a:r>
              <a:rPr lang="fr-FR" dirty="0"/>
              <a:t> n’est pas implantée</a:t>
            </a:r>
          </a:p>
        </p:txBody>
      </p:sp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7CA07116-7E39-B280-8F19-1B357E8AC4A1}"/>
              </a:ext>
            </a:extLst>
          </p:cNvPr>
          <p:cNvCxnSpPr/>
          <p:nvPr/>
        </p:nvCxnSpPr>
        <p:spPr>
          <a:xfrm>
            <a:off x="3774332" y="2178996"/>
            <a:ext cx="1789889" cy="140060"/>
          </a:xfrm>
          <a:prstGeom prst="bentConnector3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8082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A883885C-B230-E6D4-62B0-81515530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-195771"/>
            <a:ext cx="10782124" cy="133832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A12E14 La mini serre instrumentée  KY40</a:t>
            </a:r>
            <a:br>
              <a:rPr lang="fr-FR" sz="2800" dirty="0"/>
            </a:br>
            <a:r>
              <a:rPr lang="fr-FR" sz="2800" dirty="0"/>
              <a:t>Le programme 1/2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43E2A10-B114-4CFC-3A07-11BA1344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13" y="875758"/>
            <a:ext cx="10782124" cy="543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8871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9B9957BD-5CFA-CE63-92E5-17B15BDB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-195771"/>
            <a:ext cx="10782124" cy="1338323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A12E15 La mini serre instrumentée  KY40</a:t>
            </a:r>
            <a:br>
              <a:rPr lang="fr-FR" sz="2800" dirty="0"/>
            </a:br>
            <a:r>
              <a:rPr lang="fr-FR" sz="2800" dirty="0"/>
              <a:t>Le programme 2/2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F606970-0603-9BD6-8640-B4E9D0E83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933"/>
            <a:ext cx="12192000" cy="370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3581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42285-6BFB-10B4-9AB0-55A0D8267029}"/>
              </a:ext>
            </a:extLst>
          </p:cNvPr>
          <p:cNvSpPr txBox="1"/>
          <p:nvPr/>
        </p:nvSpPr>
        <p:spPr>
          <a:xfrm>
            <a:off x="838203" y="365129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GI1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44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2F980E-4512-7ABD-6773-B3CACC0206FD}"/>
              </a:ext>
            </a:extLst>
          </p:cNvPr>
          <p:cNvSpPr txBox="1"/>
          <p:nvPr/>
        </p:nvSpPr>
        <p:spPr>
          <a:xfrm>
            <a:off x="719824" y="1087212"/>
            <a:ext cx="11010445" cy="618630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Instruction du langage :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ne nécessite pas d’importer de module pour les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utiliser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print(‘Bonjour’)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affiche Bonjour sur la console du PC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While test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Boucle tant que test est VRAI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import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pour importer des modules contenant des fonctions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import time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d’appeler les fonctions relatives au temps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time.sleep( x ) :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arrête l’exécution du programme pendant x secondes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import machine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module contenant les fonctions permettant d’agir sur les périphériques du pi pico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from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pour simplifier l’écriture on importe certaines fonctions directement dans une variable à l’aide de « from »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from machine import Pin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d’accéder à la fonction Pin du module machine uniquement.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ma_led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_verte = Pin( n, Pin.OUT 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permet d’indiquer comment on souhaite utiliser un GPIO, 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		ici on a configuré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le p I/O N° n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en sortie tout ou rien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ma_led_verte.Toggle()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: inverse l’état de l’I/O associé à la variable. 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	Ici l’IO n passera de l’état haut (+3.3v) à l’état bas (0v) ou inversement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#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En début de ligne permet d’écrire un commentaire, ce qui est écrit n’est pas une instruction et donc n’est pas pris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en compte par le programme.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Variable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A=A+1 -&gt;Nouvelle valeur = ancienne valeur+1 , peut s’écrire A+=1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print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(‘’ texte ’’, A), 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input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(‘’texte’’, B)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Opérateurs: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+,-,*,/,%,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      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Données: int(), float(), str(), bool()=True or False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313F9714-E04D-56F5-FE7F-14123E7EC2C2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2B06A3-4CAC-458E-B2F2-F1F2ED62ABCA}" type="slidenum">
              <a:rPr/>
              <a:t>18</a:t>
            </a:fld>
            <a:endParaRPr lang="fr-FR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8">
            <a:extLst>
              <a:ext uri="{FF2B5EF4-FFF2-40B4-BE49-F238E27FC236}">
                <a16:creationId xmlns:a16="http://schemas.microsoft.com/office/drawing/2014/main" id="{1CC65770-372B-2281-DE61-BA1D6C7674CC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C5CC449-CA62-4452-B34B-F0406D31D794}" type="slidenum">
              <a:rPr/>
              <a:t>18</a:t>
            </a:fld>
            <a:endParaRPr lang="fr-FR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6" name="Espace réservé de la date 9">
            <a:extLst>
              <a:ext uri="{FF2B5EF4-FFF2-40B4-BE49-F238E27FC236}">
                <a16:creationId xmlns:a16="http://schemas.microsoft.com/office/drawing/2014/main" id="{B036E1B5-0964-B825-4A99-6017ADED8F22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t>06/11/2023</a:t>
            </a:r>
          </a:p>
        </p:txBody>
      </p:sp>
      <p:sp>
        <p:nvSpPr>
          <p:cNvPr id="7" name="Espace réservé du pied de page 10">
            <a:extLst>
              <a:ext uri="{FF2B5EF4-FFF2-40B4-BE49-F238E27FC236}">
                <a16:creationId xmlns:a16="http://schemas.microsoft.com/office/drawing/2014/main" id="{9E38DF72-6D29-C6CD-9936-504C23A0F1C0}"/>
              </a:ext>
            </a:extLst>
          </p:cNvPr>
          <p:cNvSpPr txBox="1"/>
          <p:nvPr/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t>Atelier Raspi N°2 Novembre 2023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B33697-659B-EF3C-DB28-B7FCFD827960}"/>
              </a:ext>
            </a:extLst>
          </p:cNvPr>
          <p:cNvSpPr txBox="1"/>
          <p:nvPr/>
        </p:nvSpPr>
        <p:spPr>
          <a:xfrm>
            <a:off x="838203" y="365129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GI2</a:t>
            </a: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 </a:t>
            </a:r>
            <a:r>
              <a:rPr lang="fr-FR" sz="44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</a:t>
            </a:r>
            <a:r>
              <a:rPr lang="fr-FR" sz="44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2</a:t>
            </a:r>
            <a:endParaRPr lang="fr-FR" sz="4400" b="0" i="0" u="none" strike="noStrike" kern="1200" cap="none" spc="0" baseline="0" dirty="0">
              <a:solidFill>
                <a:srgbClr val="7030A0"/>
              </a:solidFill>
              <a:uFillTx/>
              <a:latin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F474ED-A888-47F6-879B-8BC76162A3FF}"/>
              </a:ext>
            </a:extLst>
          </p:cNvPr>
          <p:cNvSpPr txBox="1"/>
          <p:nvPr/>
        </p:nvSpPr>
        <p:spPr>
          <a:xfrm>
            <a:off x="838203" y="1210052"/>
            <a:ext cx="8755923" cy="175432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Liste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-&gt; Création d’une liste, </a:t>
            </a:r>
            <a:r>
              <a:rPr lang="fr-FR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liste_de_noms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=[‘Toto’, ‘Hubert’, ‘Jacques’, ‘Philippe’]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liste_quelconque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= ['Toto', 1, 'Philippe', 4,5,6]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print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(‘Nombre d’articles dans la liste : ‘, 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len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liste_quelconque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))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for items in 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liste_quelconque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print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(items)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-&gt; parcours la liste et imprime chaque item de la liste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dirty="0">
                <a:solidFill>
                  <a:srgbClr val="000000"/>
                </a:solidFill>
                <a:latin typeface="Calibri"/>
              </a:rPr>
              <a:t>Pour récupérer un élément de la liste, </a:t>
            </a:r>
            <a:r>
              <a:rPr lang="fr-FR" b="1" dirty="0">
                <a:solidFill>
                  <a:srgbClr val="000000"/>
                </a:solidFill>
                <a:latin typeface="Calibri"/>
              </a:rPr>
              <a:t>variable= liste[i], </a:t>
            </a:r>
            <a:r>
              <a:rPr lang="fr-FR" dirty="0">
                <a:solidFill>
                  <a:srgbClr val="000000"/>
                </a:solidFill>
                <a:latin typeface="Calibri"/>
              </a:rPr>
              <a:t>i étant l’indice d’ordre dans la liste</a:t>
            </a:r>
            <a:endParaRPr lang="fr-FR" sz="180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A9D986-4230-7953-B1FB-08633205866F}"/>
              </a:ext>
            </a:extLst>
          </p:cNvPr>
          <p:cNvSpPr txBox="1"/>
          <p:nvPr/>
        </p:nvSpPr>
        <p:spPr>
          <a:xfrm>
            <a:off x="838203" y="3154963"/>
            <a:ext cx="7313215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Dictionnaire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liste d’éléments sous la  forme d’une paire </a:t>
            </a:r>
            <a:r>
              <a:rPr lang="fr-FR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key:valeur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N = {‘voiture’:‘4 roues’, ‘moto’:’2 roues’}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On accède à la valeur d’un key en l’utilisant comme index (clé de recherche):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print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(N[‘voiture’])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-&gt; ‘4 roues’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8C2CE6-D24A-E61C-0F30-82A687DEB50A}"/>
              </a:ext>
            </a:extLst>
          </p:cNvPr>
          <p:cNvSpPr txBox="1"/>
          <p:nvPr/>
        </p:nvSpPr>
        <p:spPr>
          <a:xfrm>
            <a:off x="838203" y="4361212"/>
            <a:ext cx="736131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Fonction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def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nom_de_ma_fonction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(args) 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on peut ensuite l’appeler dans un programme avec: 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nom_de_ma_fonction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()</a:t>
            </a: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93A93A29-92CE-C00A-6B75-A071EF0FC8E0}"/>
              </a:ext>
            </a:extLst>
          </p:cNvPr>
          <p:cNvSpPr txBox="1"/>
          <p:nvPr/>
        </p:nvSpPr>
        <p:spPr>
          <a:xfrm>
            <a:off x="838203" y="5007537"/>
            <a:ext cx="7935181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Module-&gt; from machine import Pin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importe la fonction Pin du module machine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P0 = Pin(0, Pin.OUT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) -&gt; on paramètre le GPIO 0 en sortie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P0.value(1)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</a:t>
            </a: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on lui donne la valeur 1 ou état « haut »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C5037-49A8-A777-6342-7CF33C1BE266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GI3 </a:t>
            </a:r>
            <a:r>
              <a:rPr lang="fr-FR" sz="36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 </a:t>
            </a:r>
            <a:r>
              <a:rPr lang="fr-FR" sz="36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3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4CC87C-9D34-AB4A-419B-35CFB2BC8F93}"/>
              </a:ext>
            </a:extLst>
          </p:cNvPr>
          <p:cNvSpPr txBox="1"/>
          <p:nvPr/>
        </p:nvSpPr>
        <p:spPr>
          <a:xfrm>
            <a:off x="738917" y="1228432"/>
            <a:ext cx="10408679" cy="563231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Boucles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for degree in range(0,180,1):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XXXXX		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-&gt; la variable degree vat varier de 0 à 180 avec un pas de 1, pour chaque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			valeur de cette variable, XXXX sera exécuté</a:t>
            </a: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global ma_variable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-&gt; permet d’avoir accès à ma_variable du programme principal dans la def d’une fonction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d</a:t>
            </a: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ef ma_fonction():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global ma_variable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print( ma_variable)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ma_variable += 2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return ma_variable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Return ma_variable 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-&gt; permet de donner au reste du programme la nouvelle valeur de ma_variable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	ou d’une nouvelle variable</a:t>
            </a:r>
            <a:r>
              <a:rPr lang="fr-FR" sz="1800" b="0" i="0" u="none" strike="noStrike" kern="0" cap="none" spc="0" baseline="0">
                <a:solidFill>
                  <a:srgbClr val="000000"/>
                </a:solidFill>
                <a:uFillTx/>
                <a:latin typeface="Calibri"/>
              </a:rPr>
              <a:t> 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si creée dans la fonction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A9B1CB-32A8-A382-B5D2-17986043A822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GI4 </a:t>
            </a:r>
            <a:r>
              <a:rPr lang="fr-FR" sz="3600" b="0" i="0" u="none" strike="noStrike" kern="1200" cap="none" spc="0" baseline="0" dirty="0">
                <a:solidFill>
                  <a:srgbClr val="4472C4"/>
                </a:solidFill>
                <a:uFillTx/>
                <a:latin typeface="Calibri Light"/>
              </a:rPr>
              <a:t>Les fonctions du module time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FAA4D9E-5A80-C60B-2DDD-73A03F448771}"/>
              </a:ext>
            </a:extLst>
          </p:cNvPr>
          <p:cNvSpPr txBox="1"/>
          <p:nvPr/>
        </p:nvSpPr>
        <p:spPr>
          <a:xfrm>
            <a:off x="812801" y="1422404"/>
            <a:ext cx="6615914" cy="258532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ime.ticks_ms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() 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-&gt; donne le temps présent en 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time.ticks_diff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(ticks1, ticks2)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donne la différence entre ticks1 et 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t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ime.sleep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(2)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met un délai de 2 secondes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kern="0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utime</a:t>
            </a:r>
            <a:r>
              <a:rPr lang="fr-FR" kern="0" dirty="0">
                <a:solidFill>
                  <a:srgbClr val="000000"/>
                </a:solidFill>
                <a:latin typeface="Calibri"/>
              </a:rPr>
              <a:t> travaille comme time mais en 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b="1" kern="0" dirty="0" err="1">
                <a:solidFill>
                  <a:srgbClr val="000000"/>
                </a:solidFill>
                <a:latin typeface="Calibri"/>
              </a:rPr>
              <a:t>u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time.sleep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(100)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-&gt; met un délai de 100ms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4D17A-6CE4-616D-0B51-6A25EE51B87C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</a:rPr>
              <a:t>GI5 </a:t>
            </a:r>
            <a:r>
              <a:rPr lang="fr-FR" sz="3600" b="0" i="0" u="none" strike="noStrike" kern="1200" cap="none" spc="0" baseline="0" dirty="0">
                <a:solidFill>
                  <a:srgbClr val="7030A0"/>
                </a:solidFill>
                <a:uFillTx/>
                <a:latin typeface="Calibri Light"/>
              </a:rPr>
              <a:t>Glossaire informatique </a:t>
            </a:r>
            <a:r>
              <a:rPr lang="fr-FR" sz="3600" b="0" i="0" u="none" strike="noStrike" kern="0" cap="none" spc="0" baseline="0" dirty="0">
                <a:solidFill>
                  <a:srgbClr val="7030A0"/>
                </a:solidFill>
                <a:uFillTx/>
                <a:latin typeface="Calibri Light"/>
              </a:rPr>
              <a:t>3</a:t>
            </a:r>
            <a:endParaRPr lang="fr-FR" sz="3600" b="0" i="0" u="none" strike="noStrike" kern="1200" cap="none" spc="0" baseline="0" dirty="0">
              <a:solidFill>
                <a:srgbClr val="4472C4"/>
              </a:solidFill>
              <a:uFillTx/>
              <a:latin typeface="Calibri Light" pitchFamily="34"/>
              <a:ea typeface="Calibri Light" pitchFamily="34"/>
              <a:cs typeface="Calibri Light" pitchFamily="34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590FAB2-42A1-B598-19B8-344D5E12A87F}"/>
              </a:ext>
            </a:extLst>
          </p:cNvPr>
          <p:cNvSpPr txBox="1"/>
          <p:nvPr/>
        </p:nvSpPr>
        <p:spPr>
          <a:xfrm>
            <a:off x="683491" y="985747"/>
            <a:ext cx="94196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Les tests: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l'instruction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if...</a:t>
            </a:r>
            <a:r>
              <a:rPr lang="fr-FR" b="1" i="0" dirty="0" err="1">
                <a:solidFill>
                  <a:srgbClr val="2D3034"/>
                </a:solidFill>
                <a:effectLst/>
                <a:latin typeface="inter"/>
              </a:rPr>
              <a:t>else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permet d'exécuter un bloc de code en fonction de la véracité d'une condition,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où le corps de l'instruction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if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s'exécute si la condition est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vraie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et le corps de l'instruction </a:t>
            </a:r>
            <a:r>
              <a:rPr lang="fr-FR" b="1" i="0" dirty="0" err="1">
                <a:solidFill>
                  <a:srgbClr val="2D3034"/>
                </a:solidFill>
                <a:effectLst/>
                <a:latin typeface="inter"/>
              </a:rPr>
              <a:t>else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 s'exécute si elle est </a:t>
            </a:r>
            <a:r>
              <a:rPr lang="fr-FR" b="1" i="0" dirty="0">
                <a:solidFill>
                  <a:srgbClr val="2D3034"/>
                </a:solidFill>
                <a:effectLst/>
                <a:latin typeface="inter"/>
              </a:rPr>
              <a:t>fausse</a:t>
            </a:r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,</a:t>
            </a:r>
          </a:p>
          <a:p>
            <a:r>
              <a:rPr lang="fr-FR" b="0" i="0" dirty="0">
                <a:solidFill>
                  <a:srgbClr val="2D3034"/>
                </a:solidFill>
                <a:effectLst/>
                <a:latin typeface="inter"/>
              </a:rPr>
              <a:t>avec une indentation pour définir les blocs de code.</a:t>
            </a:r>
          </a:p>
          <a:p>
            <a:endParaRPr lang="fr-FR" dirty="0"/>
          </a:p>
        </p:txBody>
      </p:sp>
      <p:sp>
        <p:nvSpPr>
          <p:cNvPr id="4" name="Organigramme : Terminateur 3">
            <a:extLst>
              <a:ext uri="{FF2B5EF4-FFF2-40B4-BE49-F238E27FC236}">
                <a16:creationId xmlns:a16="http://schemas.microsoft.com/office/drawing/2014/main" id="{E2616CEC-B8F8-A79E-2087-77C2E5A6C84F}"/>
              </a:ext>
            </a:extLst>
          </p:cNvPr>
          <p:cNvSpPr/>
          <p:nvPr/>
        </p:nvSpPr>
        <p:spPr>
          <a:xfrm>
            <a:off x="1459346" y="3271537"/>
            <a:ext cx="1717963" cy="630195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2D57469-4A14-29E4-8B81-6B3EB7D35C43}"/>
              </a:ext>
            </a:extLst>
          </p:cNvPr>
          <p:cNvCxnSpPr>
            <a:cxnSpLocks/>
          </p:cNvCxnSpPr>
          <p:nvPr/>
        </p:nvCxnSpPr>
        <p:spPr>
          <a:xfrm>
            <a:off x="2244437" y="5693587"/>
            <a:ext cx="0" cy="265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037443A0-648A-D9D0-4319-967012AA9F60}"/>
              </a:ext>
            </a:extLst>
          </p:cNvPr>
          <p:cNvSpPr txBox="1"/>
          <p:nvPr/>
        </p:nvSpPr>
        <p:spPr>
          <a:xfrm>
            <a:off x="380521" y="2563243"/>
            <a:ext cx="4414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Dans la suite des instructions du programme,</a:t>
            </a:r>
          </a:p>
          <a:p>
            <a:pPr algn="ctr"/>
            <a:r>
              <a:rPr lang="fr-FR" dirty="0"/>
              <a:t>On arrive à un test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434C7F4-F744-489C-E7E1-A6618A175A51}"/>
              </a:ext>
            </a:extLst>
          </p:cNvPr>
          <p:cNvSpPr txBox="1"/>
          <p:nvPr/>
        </p:nvSpPr>
        <p:spPr>
          <a:xfrm>
            <a:off x="6650181" y="253110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D3034"/>
                </a:solidFill>
                <a:latin typeface="inter"/>
              </a:rPr>
              <a:t>Exemple: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Dans le programme A=2</a:t>
            </a:r>
          </a:p>
          <a:p>
            <a:endParaRPr lang="fr-FR" dirty="0">
              <a:solidFill>
                <a:srgbClr val="2D3034"/>
              </a:solidFill>
              <a:latin typeface="inter"/>
            </a:endParaRP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If A &gt;10: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	</a:t>
            </a:r>
            <a:r>
              <a:rPr lang="fr-FR" dirty="0" err="1">
                <a:solidFill>
                  <a:srgbClr val="2D3034"/>
                </a:solidFill>
                <a:latin typeface="inter"/>
              </a:rPr>
              <a:t>print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(‘A supérieur à 10’)</a:t>
            </a:r>
          </a:p>
          <a:p>
            <a:r>
              <a:rPr lang="fr-FR" dirty="0" err="1">
                <a:solidFill>
                  <a:srgbClr val="2D3034"/>
                </a:solidFill>
                <a:latin typeface="inter"/>
              </a:rPr>
              <a:t>else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: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	</a:t>
            </a:r>
            <a:r>
              <a:rPr lang="fr-FR" dirty="0" err="1">
                <a:solidFill>
                  <a:srgbClr val="2D3034"/>
                </a:solidFill>
                <a:latin typeface="inter"/>
              </a:rPr>
              <a:t>print</a:t>
            </a:r>
            <a:r>
              <a:rPr lang="fr-FR" dirty="0">
                <a:solidFill>
                  <a:srgbClr val="2D3034"/>
                </a:solidFill>
                <a:latin typeface="inter"/>
              </a:rPr>
              <a:t> (‘A inférieur à 10’)</a:t>
            </a:r>
          </a:p>
          <a:p>
            <a:r>
              <a:rPr lang="fr-FR" dirty="0">
                <a:solidFill>
                  <a:srgbClr val="2D3034"/>
                </a:solidFill>
                <a:latin typeface="inter"/>
              </a:rPr>
              <a:t>On continue d’exécuter les instructions	qui suivent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C653944-F484-C78B-2769-EFCCA4A547B7}"/>
              </a:ext>
            </a:extLst>
          </p:cNvPr>
          <p:cNvSpPr txBox="1"/>
          <p:nvPr/>
        </p:nvSpPr>
        <p:spPr>
          <a:xfrm>
            <a:off x="2048990" y="3401798"/>
            <a:ext cx="53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test</a:t>
            </a:r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4DBB6877-1CE3-4477-BE48-8AF65AB42F5B}"/>
              </a:ext>
            </a:extLst>
          </p:cNvPr>
          <p:cNvCxnSpPr>
            <a:stCxn id="4" idx="3"/>
          </p:cNvCxnSpPr>
          <p:nvPr/>
        </p:nvCxnSpPr>
        <p:spPr>
          <a:xfrm>
            <a:off x="3177309" y="3586635"/>
            <a:ext cx="480291" cy="9946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18F64AF7-AC72-34A2-F77C-66206BEDAA66}"/>
              </a:ext>
            </a:extLst>
          </p:cNvPr>
          <p:cNvCxnSpPr>
            <a:cxnSpLocks/>
            <a:stCxn id="4" idx="1"/>
            <a:endCxn id="18" idx="0"/>
          </p:cNvCxnSpPr>
          <p:nvPr/>
        </p:nvCxnSpPr>
        <p:spPr>
          <a:xfrm rot="10800000" flipV="1">
            <a:off x="1062182" y="3586634"/>
            <a:ext cx="397164" cy="9946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E69C709-DC14-3919-FAA0-C4DF1D0D8931}"/>
              </a:ext>
            </a:extLst>
          </p:cNvPr>
          <p:cNvSpPr/>
          <p:nvPr/>
        </p:nvSpPr>
        <p:spPr>
          <a:xfrm>
            <a:off x="3251200" y="4581236"/>
            <a:ext cx="1246909" cy="6557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CBA02AA-35C9-95DF-4CBD-2EF07443BA8B}"/>
              </a:ext>
            </a:extLst>
          </p:cNvPr>
          <p:cNvSpPr txBox="1"/>
          <p:nvPr/>
        </p:nvSpPr>
        <p:spPr>
          <a:xfrm>
            <a:off x="2976772" y="3816189"/>
            <a:ext cx="136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 test est ok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2EB94A6-F081-F441-2947-D4427596569D}"/>
              </a:ext>
            </a:extLst>
          </p:cNvPr>
          <p:cNvSpPr txBox="1"/>
          <p:nvPr/>
        </p:nvSpPr>
        <p:spPr>
          <a:xfrm>
            <a:off x="52225" y="3875009"/>
            <a:ext cx="15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 test est Nok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CB03519-D79E-9B56-B4FF-1074A880CCA8}"/>
              </a:ext>
            </a:extLst>
          </p:cNvPr>
          <p:cNvSpPr/>
          <p:nvPr/>
        </p:nvSpPr>
        <p:spPr>
          <a:xfrm>
            <a:off x="438727" y="4581236"/>
            <a:ext cx="1246909" cy="6557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9F32502-9E5C-15D7-D32C-764947C4DF44}"/>
              </a:ext>
            </a:extLst>
          </p:cNvPr>
          <p:cNvSpPr txBox="1"/>
          <p:nvPr/>
        </p:nvSpPr>
        <p:spPr>
          <a:xfrm>
            <a:off x="3263156" y="4700124"/>
            <a:ext cx="123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fait ceci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2875FE4-BF5E-818A-7ABF-78DD23636497}"/>
              </a:ext>
            </a:extLst>
          </p:cNvPr>
          <p:cNvSpPr txBox="1"/>
          <p:nvPr/>
        </p:nvSpPr>
        <p:spPr>
          <a:xfrm>
            <a:off x="385044" y="4700124"/>
            <a:ext cx="124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fait cela</a:t>
            </a:r>
          </a:p>
        </p:txBody>
      </p: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AFC4AAA5-9DAD-BFAC-398F-36182D9E90FF}"/>
              </a:ext>
            </a:extLst>
          </p:cNvPr>
          <p:cNvCxnSpPr>
            <a:stCxn id="18" idx="2"/>
          </p:cNvCxnSpPr>
          <p:nvPr/>
        </p:nvCxnSpPr>
        <p:spPr>
          <a:xfrm rot="16200000" flipH="1">
            <a:off x="1399309" y="4899890"/>
            <a:ext cx="471055" cy="1145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99587859-0E3E-8C32-1E01-D2358316DA0C}"/>
              </a:ext>
            </a:extLst>
          </p:cNvPr>
          <p:cNvCxnSpPr>
            <a:stCxn id="15" idx="2"/>
          </p:cNvCxnSpPr>
          <p:nvPr/>
        </p:nvCxnSpPr>
        <p:spPr>
          <a:xfrm rot="5400000">
            <a:off x="2814468" y="4648515"/>
            <a:ext cx="471685" cy="16486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4494800-F108-9700-D2AD-493E99A2E931}"/>
              </a:ext>
            </a:extLst>
          </p:cNvPr>
          <p:cNvCxnSpPr>
            <a:cxnSpLocks/>
          </p:cNvCxnSpPr>
          <p:nvPr/>
        </p:nvCxnSpPr>
        <p:spPr>
          <a:xfrm>
            <a:off x="2322946" y="3003370"/>
            <a:ext cx="0" cy="265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F91FA068-79FA-50D6-00DF-3B40C75390C9}"/>
              </a:ext>
            </a:extLst>
          </p:cNvPr>
          <p:cNvSpPr txBox="1"/>
          <p:nvPr/>
        </p:nvSpPr>
        <p:spPr>
          <a:xfrm>
            <a:off x="838204" y="5936287"/>
            <a:ext cx="359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continue la suite des instructions</a:t>
            </a:r>
          </a:p>
        </p:txBody>
      </p:sp>
    </p:spTree>
    <p:extLst>
      <p:ext uri="{BB962C8B-B14F-4D97-AF65-F5344CB8AC3E}">
        <p14:creationId xmlns:p14="http://schemas.microsoft.com/office/powerpoint/2010/main" val="56635644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B28C3-2C9F-12EC-3EE6-F12914015FEA}"/>
              </a:ext>
            </a:extLst>
          </p:cNvPr>
          <p:cNvSpPr txBox="1"/>
          <p:nvPr/>
        </p:nvSpPr>
        <p:spPr>
          <a:xfrm>
            <a:off x="838203" y="365129"/>
            <a:ext cx="10515600" cy="630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1200" cap="none" spc="0" baseline="0" dirty="0">
                <a:solidFill>
                  <a:srgbClr val="0070C0"/>
                </a:solidFill>
                <a:uFillTx/>
                <a:latin typeface="Calibri Light"/>
              </a:rPr>
              <a:t>GI6 Les fonctions du module PWM</a:t>
            </a:r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C879C33B-815B-1F9A-8F8F-5C4146D1929F}"/>
              </a:ext>
            </a:extLst>
          </p:cNvPr>
          <p:cNvSpPr txBox="1"/>
          <p:nvPr/>
        </p:nvSpPr>
        <p:spPr>
          <a:xfrm>
            <a:off x="838203" y="1186936"/>
            <a:ext cx="10679542" cy="397031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Fonctions utilisées: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= PWM(Pin(16))           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#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un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objet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,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initialise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le Pin GPIO 16 </a:t>
            </a:r>
            <a:r>
              <a:rPr lang="en-US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en</a:t>
            </a:r>
            <a:r>
              <a: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sortie PWM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servoPinPan.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freq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(50)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                           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#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Initialise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la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fréquence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des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signaux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carrés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à 50Hz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soit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20ms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.duty_u16(int(</a:t>
            </a:r>
            <a:r>
              <a:rPr lang="en-US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newDuty</a:t>
            </a:r>
            <a:r>
              <a:rPr lang="en-US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))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 # duty_u16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le rapport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cyclique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entre le temps du signal carré haut sur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sa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période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, new duty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une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variable, le max </a:t>
            </a:r>
            <a:r>
              <a:rPr lang="en-US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est</a:t>
            </a:r>
            <a:r>
              <a:rPr lang="en-US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à 65535.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servoPinPan</a:t>
            </a:r>
            <a:r>
              <a:rPr lang="fr-FR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.deinit</a:t>
            </a:r>
            <a:r>
              <a:rPr lang="fr-FR" sz="18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()                             </a:t>
            </a: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# réinitialise le PWM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servoX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.duty_ns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(</a:t>
            </a:r>
            <a:r>
              <a:rPr lang="fr-FR" sz="1800" b="0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pulseDX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)  #commande le rapport cyclique du PWM en nanosecondes suivant la variable 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pulseDX</a:t>
            </a:r>
            <a:r>
              <a:rPr lang="fr-FR" sz="18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</a:rPr>
              <a:t>de l’objet </a:t>
            </a:r>
            <a:r>
              <a:rPr lang="fr-FR" sz="1800" b="1" i="0" u="none" strike="noStrike" kern="0" cap="none" spc="0" baseline="0" dirty="0" err="1">
                <a:solidFill>
                  <a:srgbClr val="000000"/>
                </a:solidFill>
                <a:uFillTx/>
                <a:latin typeface="Calibri"/>
              </a:rPr>
              <a:t>servoX</a:t>
            </a:r>
            <a:endParaRPr lang="fr-FR" sz="1800" b="1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">
            <a:extLst>
              <a:ext uri="{FF2B5EF4-FFF2-40B4-BE49-F238E27FC236}">
                <a16:creationId xmlns:a16="http://schemas.microsoft.com/office/drawing/2014/main" id="{E5D3F347-AC14-1B27-0900-21CB72D3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203" y="1114827"/>
            <a:ext cx="1772655" cy="64312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DDBC5B9-49D5-06BE-D511-2656C80D773F}"/>
              </a:ext>
            </a:extLst>
          </p:cNvPr>
          <p:cNvSpPr txBox="1"/>
          <p:nvPr/>
        </p:nvSpPr>
        <p:spPr>
          <a:xfrm>
            <a:off x="2610858" y="1353869"/>
            <a:ext cx="248696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Symbole de la diode LED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56450AA5-441E-C9CD-6B9D-0A105692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594" y="1862577"/>
            <a:ext cx="719139" cy="10048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6">
            <a:extLst>
              <a:ext uri="{FF2B5EF4-FFF2-40B4-BE49-F238E27FC236}">
                <a16:creationId xmlns:a16="http://schemas.microsoft.com/office/drawing/2014/main" id="{750AC36D-4D7F-6563-E43F-ACA1492057EB}"/>
              </a:ext>
            </a:extLst>
          </p:cNvPr>
          <p:cNvSpPr txBox="1"/>
          <p:nvPr/>
        </p:nvSpPr>
        <p:spPr>
          <a:xfrm>
            <a:off x="2348608" y="2101620"/>
            <a:ext cx="52449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Pile</a:t>
            </a:r>
          </a:p>
        </p:txBody>
      </p:sp>
      <p:pic>
        <p:nvPicPr>
          <p:cNvPr id="6" name="Image 8">
            <a:extLst>
              <a:ext uri="{FF2B5EF4-FFF2-40B4-BE49-F238E27FC236}">
                <a16:creationId xmlns:a16="http://schemas.microsoft.com/office/drawing/2014/main" id="{233D393A-9F97-AF0F-0876-A6E9A644A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52" y="2972101"/>
            <a:ext cx="732672" cy="3681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ZoneTexte 9">
            <a:extLst>
              <a:ext uri="{FF2B5EF4-FFF2-40B4-BE49-F238E27FC236}">
                <a16:creationId xmlns:a16="http://schemas.microsoft.com/office/drawing/2014/main" id="{409E4B4F-FB52-1EAB-8048-9DB4F369C84C}"/>
              </a:ext>
            </a:extLst>
          </p:cNvPr>
          <p:cNvSpPr txBox="1"/>
          <p:nvPr/>
        </p:nvSpPr>
        <p:spPr>
          <a:xfrm>
            <a:off x="2348608" y="2887885"/>
            <a:ext cx="122963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Résistance</a:t>
            </a:r>
          </a:p>
        </p:txBody>
      </p:sp>
      <p:pic>
        <p:nvPicPr>
          <p:cNvPr id="8" name="Image 11">
            <a:extLst>
              <a:ext uri="{FF2B5EF4-FFF2-40B4-BE49-F238E27FC236}">
                <a16:creationId xmlns:a16="http://schemas.microsoft.com/office/drawing/2014/main" id="{6D22C02B-D553-A011-06F1-AE16BCE46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709" y="3607911"/>
            <a:ext cx="982074" cy="2650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ZoneTexte 12">
            <a:extLst>
              <a:ext uri="{FF2B5EF4-FFF2-40B4-BE49-F238E27FC236}">
                <a16:creationId xmlns:a16="http://schemas.microsoft.com/office/drawing/2014/main" id="{D01BE1C0-38F2-DB60-CB0F-6DD390E72F06}"/>
              </a:ext>
            </a:extLst>
          </p:cNvPr>
          <p:cNvSpPr txBox="1"/>
          <p:nvPr/>
        </p:nvSpPr>
        <p:spPr>
          <a:xfrm>
            <a:off x="2271534" y="3555754"/>
            <a:ext cx="42832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BP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3A89C0E-944C-2474-C081-B168B442E212}"/>
              </a:ext>
            </a:extLst>
          </p:cNvPr>
          <p:cNvSpPr txBox="1"/>
          <p:nvPr/>
        </p:nvSpPr>
        <p:spPr>
          <a:xfrm>
            <a:off x="465542" y="117207"/>
            <a:ext cx="10515600" cy="64507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400" b="0" i="0" u="none" strike="noStrike" kern="0" cap="none" spc="0" baseline="0" dirty="0">
                <a:solidFill>
                  <a:srgbClr val="000000"/>
                </a:solidFill>
                <a:uFillTx/>
                <a:latin typeface="Calibri Light"/>
              </a:rPr>
              <a:t>GE1 </a:t>
            </a:r>
            <a:r>
              <a:rPr lang="fr-FR" sz="4400" b="0" i="0" u="none" strike="noStrike" kern="1200" cap="none" spc="0" baseline="0" dirty="0">
                <a:solidFill>
                  <a:srgbClr val="C00000"/>
                </a:solidFill>
                <a:uFillTx/>
                <a:latin typeface="Calibri Light"/>
              </a:rPr>
              <a:t>Glossaire électronique</a:t>
            </a:r>
          </a:p>
        </p:txBody>
      </p:sp>
      <p:pic>
        <p:nvPicPr>
          <p:cNvPr id="15" name="Image 3">
            <a:extLst>
              <a:ext uri="{FF2B5EF4-FFF2-40B4-BE49-F238E27FC236}">
                <a16:creationId xmlns:a16="http://schemas.microsoft.com/office/drawing/2014/main" id="{3FCE0D5A-7B82-50FB-F5EB-3F2BDF60A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10" y="4038337"/>
            <a:ext cx="1847846" cy="19431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ZoneTexte 14">
            <a:extLst>
              <a:ext uri="{FF2B5EF4-FFF2-40B4-BE49-F238E27FC236}">
                <a16:creationId xmlns:a16="http://schemas.microsoft.com/office/drawing/2014/main" id="{7C2CA09E-D623-81E4-F921-241A3E0FE464}"/>
              </a:ext>
            </a:extLst>
          </p:cNvPr>
          <p:cNvSpPr txBox="1"/>
          <p:nvPr/>
        </p:nvSpPr>
        <p:spPr>
          <a:xfrm>
            <a:off x="849930" y="5930952"/>
            <a:ext cx="2772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Schéma électrique du relais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5AC77152-8798-8BA6-2AE7-A1510043842A}"/>
              </a:ext>
            </a:extLst>
          </p:cNvPr>
          <p:cNvGrpSpPr/>
          <p:nvPr/>
        </p:nvGrpSpPr>
        <p:grpSpPr>
          <a:xfrm>
            <a:off x="3686068" y="3309948"/>
            <a:ext cx="403700" cy="959981"/>
            <a:chOff x="7561006" y="3740412"/>
            <a:chExt cx="403700" cy="959981"/>
          </a:xfrm>
        </p:grpSpPr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37733456-9875-175B-D2DA-18928D9E0993}"/>
                </a:ext>
              </a:extLst>
            </p:cNvPr>
            <p:cNvCxnSpPr/>
            <p:nvPr/>
          </p:nvCxnSpPr>
          <p:spPr>
            <a:xfrm>
              <a:off x="7561006" y="414921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11C64558-B587-08CA-C6FB-6EA3758FFBB9}"/>
                </a:ext>
              </a:extLst>
            </p:cNvPr>
            <p:cNvCxnSpPr/>
            <p:nvPr/>
          </p:nvCxnSpPr>
          <p:spPr>
            <a:xfrm>
              <a:off x="7565926" y="430161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6C4D4C5A-7C34-EA32-8BEE-6B421EF1C1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61006" y="3939802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3F15D13A-8D2E-40A4-2F17-6583D2408B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558838" y="4501003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30FD0C72-4BCA-D547-7139-9471311CB3AF}"/>
              </a:ext>
            </a:extLst>
          </p:cNvPr>
          <p:cNvSpPr txBox="1"/>
          <p:nvPr/>
        </p:nvSpPr>
        <p:spPr>
          <a:xfrm>
            <a:off x="4308529" y="3607865"/>
            <a:ext cx="1726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Condensateur</a:t>
            </a:r>
          </a:p>
          <a:p>
            <a:r>
              <a:rPr lang="fr-FR" dirty="0"/>
              <a:t>de filtrage signal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B37FDF47-5B46-8EB3-6581-7B9B0CE3299A}"/>
              </a:ext>
            </a:extLst>
          </p:cNvPr>
          <p:cNvGrpSpPr/>
          <p:nvPr/>
        </p:nvGrpSpPr>
        <p:grpSpPr>
          <a:xfrm>
            <a:off x="3592654" y="4546611"/>
            <a:ext cx="701416" cy="959981"/>
            <a:chOff x="6507235" y="4792417"/>
            <a:chExt cx="701416" cy="959981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E3B7E44E-1A2A-08CE-95D4-D0ECC856F7EF}"/>
                </a:ext>
              </a:extLst>
            </p:cNvPr>
            <p:cNvCxnSpPr>
              <a:cxnSpLocks/>
            </p:cNvCxnSpPr>
            <p:nvPr/>
          </p:nvCxnSpPr>
          <p:spPr>
            <a:xfrm>
              <a:off x="6646496" y="5201218"/>
              <a:ext cx="39878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F0C40E45-1EE8-A1C7-DA51-69DB5C123933}"/>
                </a:ext>
              </a:extLst>
            </p:cNvPr>
            <p:cNvCxnSpPr>
              <a:cxnSpLocks/>
            </p:cNvCxnSpPr>
            <p:nvPr/>
          </p:nvCxnSpPr>
          <p:spPr>
            <a:xfrm>
              <a:off x="6512626" y="5353618"/>
              <a:ext cx="69602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AB3FB558-0781-E820-7DD1-899B439A50FB}"/>
                </a:ext>
              </a:extLst>
            </p:cNvPr>
            <p:cNvCxnSpPr>
              <a:cxnSpLocks/>
            </p:cNvCxnSpPr>
            <p:nvPr/>
          </p:nvCxnSpPr>
          <p:spPr>
            <a:xfrm>
              <a:off x="6845886" y="4792417"/>
              <a:ext cx="0" cy="398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17584F2D-CED1-B755-0395-8C5BDF2288A1}"/>
                </a:ext>
              </a:extLst>
            </p:cNvPr>
            <p:cNvCxnSpPr>
              <a:cxnSpLocks/>
            </p:cNvCxnSpPr>
            <p:nvPr/>
          </p:nvCxnSpPr>
          <p:spPr>
            <a:xfrm>
              <a:off x="6843718" y="5353618"/>
              <a:ext cx="0" cy="39878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67990CB1-4962-A9C4-6641-C67ED40350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4537" y="5201218"/>
              <a:ext cx="3311" cy="152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DDE33556-271F-72E6-71EF-690EE074D0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07235" y="5201218"/>
              <a:ext cx="3311" cy="152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B85BB27B-2170-FA6A-D8BD-70A8D940F1D3}"/>
              </a:ext>
            </a:extLst>
          </p:cNvPr>
          <p:cNvSpPr txBox="1"/>
          <p:nvPr/>
        </p:nvSpPr>
        <p:spPr>
          <a:xfrm>
            <a:off x="4318246" y="4770746"/>
            <a:ext cx="2810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Condensateur</a:t>
            </a:r>
          </a:p>
          <a:p>
            <a:r>
              <a:rPr lang="fr-FR" dirty="0"/>
              <a:t>Chimique, réserve d’énergie</a:t>
            </a: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85DC9340-6FC1-26FB-07BE-E0482B41E8CF}"/>
              </a:ext>
            </a:extLst>
          </p:cNvPr>
          <p:cNvGrpSpPr/>
          <p:nvPr/>
        </p:nvGrpSpPr>
        <p:grpSpPr>
          <a:xfrm>
            <a:off x="7763956" y="3578121"/>
            <a:ext cx="3576034" cy="2385249"/>
            <a:chOff x="7568565" y="3233002"/>
            <a:chExt cx="3576034" cy="2385249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7C06CC37-A7EC-CF5D-8A5A-F5A3FA4F7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62741" y="4066549"/>
              <a:ext cx="2157725" cy="1506012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AC23FF-9064-3FFA-EF0D-700072CB8C01}"/>
                </a:ext>
              </a:extLst>
            </p:cNvPr>
            <p:cNvSpPr/>
            <p:nvPr/>
          </p:nvSpPr>
          <p:spPr>
            <a:xfrm>
              <a:off x="8480497" y="3233002"/>
              <a:ext cx="334297" cy="71300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Flèche : bas 43">
              <a:extLst>
                <a:ext uri="{FF2B5EF4-FFF2-40B4-BE49-F238E27FC236}">
                  <a16:creationId xmlns:a16="http://schemas.microsoft.com/office/drawing/2014/main" id="{1FC4385D-3BDF-67F1-8E23-B5E904818CDD}"/>
                </a:ext>
              </a:extLst>
            </p:cNvPr>
            <p:cNvSpPr/>
            <p:nvPr/>
          </p:nvSpPr>
          <p:spPr>
            <a:xfrm>
              <a:off x="8578822" y="3980752"/>
              <a:ext cx="147484" cy="50346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35851E57-5FB7-C7A4-6685-106308B883B9}"/>
                </a:ext>
              </a:extLst>
            </p:cNvPr>
            <p:cNvSpPr txBox="1"/>
            <p:nvPr/>
          </p:nvSpPr>
          <p:spPr>
            <a:xfrm>
              <a:off x="7568565" y="5310474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E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8B28FB5E-ED93-0761-E2EC-BFF525CA9EDD}"/>
                </a:ext>
              </a:extLst>
            </p:cNvPr>
            <p:cNvSpPr txBox="1"/>
            <p:nvPr/>
          </p:nvSpPr>
          <p:spPr>
            <a:xfrm>
              <a:off x="8814794" y="3257220"/>
              <a:ext cx="23298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Pièce qui vient couper</a:t>
              </a:r>
            </a:p>
            <a:p>
              <a:r>
                <a:rPr lang="fr-FR" dirty="0"/>
                <a:t>le faisceau lumineux IR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5FB4213-2A16-EC09-BE68-1843E2B27DB5}"/>
                </a:ext>
              </a:extLst>
            </p:cNvPr>
            <p:cNvSpPr/>
            <p:nvPr/>
          </p:nvSpPr>
          <p:spPr>
            <a:xfrm>
              <a:off x="7870893" y="4199990"/>
              <a:ext cx="545519" cy="712905"/>
            </a:xfrm>
            <a:prstGeom prst="rect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DDCA533-2AE7-DDC5-DB63-C822BC7AAA7D}"/>
                </a:ext>
              </a:extLst>
            </p:cNvPr>
            <p:cNvSpPr/>
            <p:nvPr/>
          </p:nvSpPr>
          <p:spPr>
            <a:xfrm>
              <a:off x="8927871" y="4214739"/>
              <a:ext cx="545519" cy="712905"/>
            </a:xfrm>
            <a:prstGeom prst="rect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04D9E554-F4B9-C87A-F824-4B53CA2866F2}"/>
              </a:ext>
            </a:extLst>
          </p:cNvPr>
          <p:cNvGrpSpPr/>
          <p:nvPr/>
        </p:nvGrpSpPr>
        <p:grpSpPr>
          <a:xfrm>
            <a:off x="4959280" y="1114827"/>
            <a:ext cx="2509341" cy="2026063"/>
            <a:chOff x="6188313" y="864821"/>
            <a:chExt cx="2509341" cy="2026063"/>
          </a:xfrm>
        </p:grpSpPr>
        <p:pic>
          <p:nvPicPr>
            <p:cNvPr id="17" name="Image 17">
              <a:extLst>
                <a:ext uri="{FF2B5EF4-FFF2-40B4-BE49-F238E27FC236}">
                  <a16:creationId xmlns:a16="http://schemas.microsoft.com/office/drawing/2014/main" id="{62E76CB5-E3F2-A95D-CDC2-A22F156C2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88313" y="864821"/>
              <a:ext cx="2314574" cy="1678399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68E6D5FF-430E-94FB-E20F-900B4C0ECCA8}"/>
                </a:ext>
              </a:extLst>
            </p:cNvPr>
            <p:cNvSpPr txBox="1"/>
            <p:nvPr/>
          </p:nvSpPr>
          <p:spPr>
            <a:xfrm>
              <a:off x="6188313" y="2521552"/>
              <a:ext cx="2509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Vpotar</a:t>
              </a:r>
              <a:r>
                <a:rPr lang="fr-FR" dirty="0"/>
                <a:t>=</a:t>
              </a:r>
              <a:r>
                <a:rPr lang="fr-FR" dirty="0" err="1"/>
                <a:t>Vpile</a:t>
              </a:r>
              <a:r>
                <a:rPr lang="fr-FR" dirty="0"/>
                <a:t>* r2/(r1+r2)</a:t>
              </a:r>
            </a:p>
          </p:txBody>
        </p:sp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1CE9A7C9-9C7A-EAEF-2EE6-684A2FDF5B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6284" y="1172250"/>
            <a:ext cx="3410426" cy="196242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5846</TotalTime>
  <Words>1794</Words>
  <Application>Microsoft Office PowerPoint</Application>
  <PresentationFormat>Grand écran</PresentationFormat>
  <Paragraphs>262</Paragraphs>
  <Slides>24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inter</vt:lpstr>
      <vt:lpstr>Liberation Sans</vt:lpstr>
      <vt:lpstr>Tahoma</vt:lpstr>
      <vt:lpstr>Thème Office</vt:lpstr>
      <vt:lpstr>Atelier Raspi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A11E10 La mini serre instrumentée, l’encodeur KY40</vt:lpstr>
      <vt:lpstr>A12E11 La mini serre instrumentée Construction du KY40</vt:lpstr>
      <vt:lpstr>A12E12 La mini serre instrumentée Les signaux du KY40</vt:lpstr>
      <vt:lpstr>A12E13 La mini serre instrumentée  KY40 Le schéma électrique</vt:lpstr>
      <vt:lpstr>A12E14 La mini serre instrumentée  KY40 Le programme 1/2</vt:lpstr>
      <vt:lpstr>A12E15 La mini serre instrumentée  KY40 Le programme 2/2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Raspi</dc:title>
  <dc:creator>Phil</dc:creator>
  <cp:lastModifiedBy>PE</cp:lastModifiedBy>
  <cp:revision>48</cp:revision>
  <cp:lastPrinted>2023-09-14T16:45:55Z</cp:lastPrinted>
  <dcterms:created xsi:type="dcterms:W3CDTF">2023-09-14T15:48:25Z</dcterms:created>
  <dcterms:modified xsi:type="dcterms:W3CDTF">2025-11-12T09:31:34Z</dcterms:modified>
</cp:coreProperties>
</file>